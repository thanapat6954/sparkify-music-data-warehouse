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ecb6d24b5d4cf9" /><Relationship Type="http://schemas.openxmlformats.org/officeDocument/2006/relationships/extended-properties" Target="/docProps/app.xml" Id="Rd5cdfbe23c684e81" /><Relationship Type="http://schemas.openxmlformats.org/officeDocument/2006/relationships/officeDocument" Target="/ppt/presentation.xml" Id="Red511f00f2f04e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a8ad3479054c9d"/>
  </p:sldMasterIdLst>
  <p:notesMasterIdLst>
    <p:notesMasterId xmlns:r="http://schemas.openxmlformats.org/officeDocument/2006/relationships" r:id="R01bed856b5a646c8"/>
  </p:notesMasterIdLst>
  <p:sldIdLst>
    <p:sldId xmlns:r="http://schemas.openxmlformats.org/officeDocument/2006/relationships" id="256" r:id="Ref8c78f16d784a18"/>
    <p:sldId xmlns:r="http://schemas.openxmlformats.org/officeDocument/2006/relationships" id="257" r:id="Rc94483ff7fa041f4"/>
    <p:sldId xmlns:r="http://schemas.openxmlformats.org/officeDocument/2006/relationships" id="258" r:id="R582e6a71412649cf"/>
    <p:sldId xmlns:r="http://schemas.openxmlformats.org/officeDocument/2006/relationships" id="259" r:id="R67f0f2aec05845ef"/>
    <p:sldId xmlns:r="http://schemas.openxmlformats.org/officeDocument/2006/relationships" id="260" r:id="R1e6fd2f4bf924ec8"/>
    <p:sldId xmlns:r="http://schemas.openxmlformats.org/officeDocument/2006/relationships" id="261" r:id="Rcdad878f8bb04c53"/>
    <p:sldId xmlns:r="http://schemas.openxmlformats.org/officeDocument/2006/relationships" id="262" r:id="R3edc9972f8a34f33"/>
    <p:sldId xmlns:r="http://schemas.openxmlformats.org/officeDocument/2006/relationships" id="263" r:id="Rac43670cc14f4990"/>
    <p:sldId xmlns:r="http://schemas.openxmlformats.org/officeDocument/2006/relationships" id="264" r:id="R1db54eaf9f394baa"/>
    <p:sldId xmlns:r="http://schemas.openxmlformats.org/officeDocument/2006/relationships" id="265" r:id="Rec9abbc8e6fe400c"/>
    <p:sldId xmlns:r="http://schemas.openxmlformats.org/officeDocument/2006/relationships" id="266" r:id="R081ec88d75544f05"/>
    <p:sldId xmlns:r="http://schemas.openxmlformats.org/officeDocument/2006/relationships" id="267" r:id="R9a6c67bb6bc94c57"/>
    <p:sldId xmlns:r="http://schemas.openxmlformats.org/officeDocument/2006/relationships" id="268" r:id="Rc18cfec7ecac4e3e"/>
    <p:sldId xmlns:r="http://schemas.openxmlformats.org/officeDocument/2006/relationships" id="269" r:id="Rd3c503f100b24ea5"/>
    <p:sldId xmlns:r="http://schemas.openxmlformats.org/officeDocument/2006/relationships" id="270" r:id="Rfd39a0a35c724f54"/>
    <p:sldId xmlns:r="http://schemas.openxmlformats.org/officeDocument/2006/relationships" id="271" r:id="R57e5251fd64f4f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1061b5fb564f6f" /><Relationship Type="http://schemas.openxmlformats.org/officeDocument/2006/relationships/slideMaster" Target="/ppt/slideMasters/slideMaster1.xml" Id="Re3a8ad3479054c9d" /><Relationship Type="http://schemas.openxmlformats.org/officeDocument/2006/relationships/notesMaster" Target="/ppt/notesMasters/notesMaster1.xml" Id="R01bed856b5a646c8" /><Relationship Type="http://schemas.openxmlformats.org/officeDocument/2006/relationships/presProps" Target="/ppt/presProps.xml" Id="Rb141bbf5ff624681" /><Relationship Type="http://schemas.openxmlformats.org/officeDocument/2006/relationships/tableStyles" Target="/ppt/tableStyles.xml" Id="Reb3e79172fdb4195" /><Relationship Type="http://schemas.openxmlformats.org/officeDocument/2006/relationships/slide" Target="/ppt/slides/slide1.xml" Id="Ref8c78f16d784a18" /><Relationship Type="http://schemas.openxmlformats.org/officeDocument/2006/relationships/slide" Target="/ppt/slides/slide2.xml" Id="Rc94483ff7fa041f4" /><Relationship Type="http://schemas.openxmlformats.org/officeDocument/2006/relationships/slide" Target="/ppt/slides/slide3.xml" Id="R582e6a71412649cf" /><Relationship Type="http://schemas.openxmlformats.org/officeDocument/2006/relationships/slide" Target="/ppt/slides/slide4.xml" Id="R67f0f2aec05845ef" /><Relationship Type="http://schemas.openxmlformats.org/officeDocument/2006/relationships/slide" Target="/ppt/slides/slide5.xml" Id="R1e6fd2f4bf924ec8" /><Relationship Type="http://schemas.openxmlformats.org/officeDocument/2006/relationships/slide" Target="/ppt/slides/slide6.xml" Id="Rcdad878f8bb04c53" /><Relationship Type="http://schemas.openxmlformats.org/officeDocument/2006/relationships/slide" Target="/ppt/slides/slide7.xml" Id="R3edc9972f8a34f33" /><Relationship Type="http://schemas.openxmlformats.org/officeDocument/2006/relationships/slide" Target="/ppt/slides/slide8.xml" Id="Rac43670cc14f4990" /><Relationship Type="http://schemas.openxmlformats.org/officeDocument/2006/relationships/slide" Target="/ppt/slides/slide9.xml" Id="R1db54eaf9f394baa" /><Relationship Type="http://schemas.openxmlformats.org/officeDocument/2006/relationships/slide" Target="/ppt/slides/slide10.xml" Id="Rec9abbc8e6fe400c" /><Relationship Type="http://schemas.openxmlformats.org/officeDocument/2006/relationships/slide" Target="/ppt/slides/slide11.xml" Id="R081ec88d75544f05" /><Relationship Type="http://schemas.openxmlformats.org/officeDocument/2006/relationships/slide" Target="/ppt/slides/slide12.xml" Id="R9a6c67bb6bc94c57" /><Relationship Type="http://schemas.openxmlformats.org/officeDocument/2006/relationships/slide" Target="/ppt/slides/slide13.xml" Id="Rc18cfec7ecac4e3e" /><Relationship Type="http://schemas.openxmlformats.org/officeDocument/2006/relationships/slide" Target="/ppt/slides/slide14.xml" Id="Rd3c503f100b24ea5" /><Relationship Type="http://schemas.openxmlformats.org/officeDocument/2006/relationships/slide" Target="/ppt/slides/slide15.xml" Id="Rfd39a0a35c724f54" /><Relationship Type="http://schemas.openxmlformats.org/officeDocument/2006/relationships/slide" Target="/ppt/slides/slide16.xml" Id="R57e5251fd64f4f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75fd88386547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0868b7d1704a0b" /><Relationship Type="http://schemas.openxmlformats.org/officeDocument/2006/relationships/notesMaster" Target="/ppt/notesMasters/notesMaster1.xml" Id="R03463fb7d7324a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694b7e0b924332" /><Relationship Type="http://schemas.openxmlformats.org/officeDocument/2006/relationships/notesMaster" Target="/ppt/notesMasters/notesMaster1.xml" Id="Rf0bcdb07514242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97d75330f74752" /><Relationship Type="http://schemas.openxmlformats.org/officeDocument/2006/relationships/notesMaster" Target="/ppt/notesMasters/notesMaster1.xml" Id="R5eb3d7a7fbb14d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672ba49b1248be" /><Relationship Type="http://schemas.openxmlformats.org/officeDocument/2006/relationships/notesMaster" Target="/ppt/notesMasters/notesMaster1.xml" Id="Rae3a4e76a16e4e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48c3f49a3a40cd" /><Relationship Type="http://schemas.openxmlformats.org/officeDocument/2006/relationships/notesMaster" Target="/ppt/notesMasters/notesMaster1.xml" Id="Rcbc8bec592c945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870d3be3dc49bf" /><Relationship Type="http://schemas.openxmlformats.org/officeDocument/2006/relationships/notesMaster" Target="/ppt/notesMasters/notesMaster1.xml" Id="Reab412a0f9164c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c4ed2868824a82" /><Relationship Type="http://schemas.openxmlformats.org/officeDocument/2006/relationships/notesMaster" Target="/ppt/notesMasters/notesMaster1.xml" Id="Re2427cea525f42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3635285a8742c4" /><Relationship Type="http://schemas.openxmlformats.org/officeDocument/2006/relationships/notesMaster" Target="/ppt/notesMasters/notesMaster1.xml" Id="R43990226deaa4b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b61353028f4a9f" /><Relationship Type="http://schemas.openxmlformats.org/officeDocument/2006/relationships/notesMaster" Target="/ppt/notesMasters/notesMaster1.xml" Id="R7d7b99769d0f42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faa7ba3b064935" /><Relationship Type="http://schemas.openxmlformats.org/officeDocument/2006/relationships/notesMaster" Target="/ppt/notesMasters/notesMaster1.xml" Id="R61064a8401c34b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1b9a0c2b3a46eb" /><Relationship Type="http://schemas.openxmlformats.org/officeDocument/2006/relationships/notesMaster" Target="/ppt/notesMasters/notesMaster1.xml" Id="R31e50860fd5d43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f772db08364a8d" /><Relationship Type="http://schemas.openxmlformats.org/officeDocument/2006/relationships/notesMaster" Target="/ppt/notesMasters/notesMaster1.xml" Id="Rb739d75083c74b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897be6645d4257" /><Relationship Type="http://schemas.openxmlformats.org/officeDocument/2006/relationships/notesMaster" Target="/ppt/notesMasters/notesMaster1.xml" Id="R1fc5fe6b375a45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ac276fa225451f" /><Relationship Type="http://schemas.openxmlformats.org/officeDocument/2006/relationships/notesMaster" Target="/ppt/notesMasters/notesMaster1.xml" Id="R1841f54dc24042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12ecf1d58c4df7" /><Relationship Type="http://schemas.openxmlformats.org/officeDocument/2006/relationships/notesMaster" Target="/ppt/notesMasters/notesMaster1.xml" Id="R2c406762e4cd43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ab42a44fc5430b" /><Relationship Type="http://schemas.openxmlformats.org/officeDocument/2006/relationships/notesMaster" Target="/ppt/notesMasters/notesMaster1.xml" Id="Rdecba8ba7c484b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งานนี้ศึกษาการฟังเพลงและพฤติกรรมสมาชิกจาก Sparkify sample โดยเน้นการออกแบบคลังข้อมูลและนิยามตัวชี้วัดที่ตรวจสอบได้</a:t>
            </a:r>
          </a:p>
          <a:p xmlns:a="http://schemas.openxmlformats.org/drawingml/2006/main">
            <a:r>
              <a:t>Cover image: AI-generated editorial headphones illustration, built-in ImageGen. Not a photograph of the dataset or a real streaming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reports/summary.json; docs/requirements.md; docs/modeling.md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รายได้โฆษณาและค่าสมาชิกเป็นบริบทของธุรกิจ Freemium แต่ชุดข้อมูลไม่มีราคาหรือรายได้ จึงไม่คำนวณรายได้หรือ ROI สัญญาณ engagement ยังต้องประเมินกับ cancellation labels ก่อนใช้ตัดสินใจเชิง churn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reports/summary.json; docs/requirements.md; docs/modeling.md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แหล่งที่ยืนยันได้คือ ZIP ที่ให้มา ไม่อ้างว่าดาวน์โหลดจาก Kaggle หรือ Spotify API โดยตรง ช่วงข้อมูล 1 พ.ย. 2018 20:57:10.796 ถึง 30 พ.ย. 2018 19:54:24.796 UTC วันแรกและวันสุดท้ายไม่ครบวัน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reports/data_profile.json; reports/summary.json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DAU/MAU นับ distinct user ID ที่มี NextSong และตัด anonymous ออก MAU ไม่ใช่ผลรวม DAU ชั่วโมงใช้ length ของ NextSong ไม่แปลว่าเพลงเล่นจบหรือฟังเต็มเพลง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reports/summary.json; docs/requirements.md; docs/modeling.md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โหลด raw แบบ append เฉพาะ content keys ใหม่ ส่วน dbt fact ใช้ incremental delete+insert และประมวลผล staged records ทั้งหมดเพื่อรองรับ late arrival ที่เปลี่ยน membership intervals ตัวอย่าง Airflow DAG เป็นส่วนต่อยอด ยังไม่ได้ deploy Airflow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reports/summary.json; docs/requirements.md; docs/modeling.md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มี conformed dimensions 9 ตารางเมื่อแยก device, location, song, artist และ subscription history ออกจากกันใน diagram เพื่อให้อ่านง่าย Song/Artist key มาจากชื่อใน logs เพราะ event ไม่มี native song ID แถว anonymous ผูก unknown dimension และไม่นับเป็น active listener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reports/summary.json; docs/requirements.md; docs/modeling.md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หมายถึง Song/Artist ตาราง user-day ไม่ได้มี FK song/device/level โดยตรงเพราะมีหลายค่าต่อวัน ห้าม join สอง facts แบบ 1:many แล้ว sum measures ซ้ำ รายละเอียด bus matrix และ grain อยู่ใน docs/modeling.md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reports/summary.json; docs/requirements.md; docs/modeling.md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Nullability ของ CTAS ไม่ได้แปลว่ามี constraint ครบ จึงใช้ dbt not_null, unique, relationships และ singular tests เป็น quality contract source_file ระบุชื่อไฟล์และเลขบรรทัดเพื่อย้อนตรวจ ข้อมูลที่ไม่จำเป็น เช่นชื่อและนามสกุลไม่เก็บใน warehouse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docs/data_dictionary.md; dbt/models/schema.yml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ภาพนี้เป็นตัวอย่างอธิบายลำดับสถานะ ไม่ใช่ข้อมูลเฉพาะบุคคล Regression test สร้าง Free→Paid→Free ที่มาถึงไม่เรียงเวลา แล้วตรวจว่าประวัติทั้งสามช่วงและ fact join ถูกต้อง ไม่ใช้ distinct(user, level) ซึ่งจะทำให้สูญเสียช่วงที่สาม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tests/test_pipeline.py; dbt/models/intermediate/int_subscription_history.sql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Paid track hours / total ประมาณ 81.66% เป็นสัดส่วนของผลรวม length ไม่ใช่รายได้หรือสัดส่วนผู้ใช้ Paid ข้อมูล raw มี97ผู้ใช้แต่96คนมีNextSong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reports/summary.json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เส้นแสดงจำนวน active listeners ใน sample แต่ละวัน ไม่ควรสรุปการเติบโตหรือเสื่อมถอยของธุรกิจจากเดือนเดียวหรือวันที่ข้อมูลไม่ครบ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reports/daily_kpis.csv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ค่าช่วงเวลาจาก rpt_listening_heatmap รวมทั้ง dataset Night833 Morning1487 Afternoon2577 Evening1923 รวม6820 เวลา UTC ไม่ยืนยันกิจกรรมหรือสถานที่ของผู้ใช้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reports/listening_heatmap.csv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แสดงTop6เพื่อให้ชื่ออ่านง่าย มีTop10ตามdaypartในreporting ภายใต้ sampleนี้ศิลปินชื่อเดียวอาจไม่ใช่ entityคนเดียวกันทั้งหมด ชื่อใน log ไม่มี authoritative artist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reports/top_artists.csv; reports/summary.json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Decline18และInactive19เป็นกลุ่มแยกกัน เพราะdeclineมีpriorityก่อนinactive prior=cutoff-13ถึงcutoff-7 current=cutoff-6ถึงcutoff รวมวันcutoff จึงอาจได้รับผลจากวันสุดท้ายที่ไม่ครบวัน No rule triggerไม่ได้พิสูจน์ว่าไม่churn ไม่มีการฝึกโมเดลหรือประเมินprecision/recall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reports/summary.json; dbt/models/reporting/rpt_engagement_watchlist.sql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 models และ47 data testsจากข้อมูลจริงเดิมผ่านบนDuckDB; PostgreSQLทดสอบCIจากfixtureแล้ว และการรันข้อมูลจริงตรวจแยกในreports/postgresเมื่อเตรียมสไลด์ Demo Metabaseใช้ฐานPostgreSQLจริง ส่วนAirflowยังเป็นtemplate ไม่มีchurnprobabilityหรือproductionaccuracy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reports/validation.md; reports/github_actions_evidence.json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เริ่มdemoจากREADMEและreports/validation.md ผู้ชมสามารถแก้SQLquestionsจากMetabaseได้ ชุดข้อมูลนี้ใช้การติดตาม engagement เป็นงานปัจจุบัน ส่วนการยืนยันChurnต้องเพิ่มข้อมูลและประเมินภายหลัง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reports/summary.json; docs/requirements.md; docs/modeling.md</a:t>
            </a:r>
          </a:p>
          <a:p xmlns:a="http://schemas.openxmlformats.org/drawingml/2006/main">
            <a:r>
              <a:t>Repository: https://github.com/thanapat6954/sparkify-music-data-warehouse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d7eb1e0a54b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1e92b8b3a45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3cbcd41ea42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82903a86941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52051993040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fb5e9707347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D933EE-AB43-499A-A7AB-BAF0832B70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EADC39-79EF-4B74-B4E3-B6E4AAAF13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CC58B8-4958-4A4B-93AD-13E8C8B4E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C0AD22-2446-472D-B3E7-2EB061F97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242812-193F-4548-92A1-B0F9E64B33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9AE4E1-200C-47E4-9FD7-71E38602B1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98FAB2-67DC-46D9-AA3B-00078A2A64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417DE4-C80E-4635-B022-ACCE50A22B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5F80F4-36F0-43BB-B249-67504C06B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74DF4B-1EAC-4AD0-B0FD-6307B13A4C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d56ad6a4a44dc7" /><Relationship Type="http://schemas.openxmlformats.org/officeDocument/2006/relationships/slideLayout" Target="/ppt/slideLayouts/slideLayout1.xml" Id="Rf4030446351d4744" /><Relationship Type="http://schemas.openxmlformats.org/officeDocument/2006/relationships/slideLayout" Target="/ppt/slideLayouts/slideLayout2.xml" Id="Re647cc4b24d642e1" /><Relationship Type="http://schemas.openxmlformats.org/officeDocument/2006/relationships/slideLayout" Target="/ppt/slideLayouts/slideLayout3.xml" Id="R5f25c49e8eb44e4f" /><Relationship Type="http://schemas.openxmlformats.org/officeDocument/2006/relationships/slideLayout" Target="/ppt/slideLayouts/slideLayout4.xml" Id="Rc25ccd962d5a4a2b" /><Relationship Type="http://schemas.openxmlformats.org/officeDocument/2006/relationships/slideLayout" Target="/ppt/slideLayouts/slideLayout5.xml" Id="R8431d36e269b43f6" /><Relationship Type="http://schemas.openxmlformats.org/officeDocument/2006/relationships/slideLayout" Target="/ppt/slideLayouts/slideLayout6.xml" Id="R62070322c47247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030446351d4744"/>
    <p:sldLayoutId xmlns:r="http://schemas.openxmlformats.org/officeDocument/2006/relationships" id="2147483650" r:id="Re647cc4b24d642e1"/>
    <p:sldLayoutId xmlns:r="http://schemas.openxmlformats.org/officeDocument/2006/relationships" id="2147483651" r:id="R5f25c49e8eb44e4f"/>
    <p:sldLayoutId xmlns:r="http://schemas.openxmlformats.org/officeDocument/2006/relationships" id="2147483652" r:id="Rc25ccd962d5a4a2b"/>
    <p:sldLayoutId xmlns:r="http://schemas.openxmlformats.org/officeDocument/2006/relationships" id="2147483653" r:id="R8431d36e269b43f6"/>
    <p:sldLayoutId xmlns:r="http://schemas.openxmlformats.org/officeDocument/2006/relationships" id="2147483654" r:id="R62070322c47247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a53b13c2342fc" /><Relationship Type="http://schemas.openxmlformats.org/officeDocument/2006/relationships/image" Target="/ppt/media/image.png" Id="Re785875ab7574a7c" /><Relationship Type="http://schemas.openxmlformats.org/officeDocument/2006/relationships/notesSlide" Target="/ppt/notesSlides/notesSlide1.xml" Id="R7e83793f7c6b4e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30ba0e9f64b77" /><Relationship Type="http://schemas.openxmlformats.org/officeDocument/2006/relationships/notesSlide" Target="/ppt/notesSlides/notesSlide2.xml" Id="R2921b87cf83f4a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1acac06ba4665" /><Relationship Type="http://schemas.openxmlformats.org/officeDocument/2006/relationships/notesSlide" Target="/ppt/notesSlides/notesSlide3.xml" Id="R708fa3a3436542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b8f4cc81f4c69" /><Relationship Type="http://schemas.openxmlformats.org/officeDocument/2006/relationships/notesSlide" Target="/ppt/notesSlides/notesSlide4.xml" Id="Reb6a83a22f8748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073b65e0fb4da2" /><Relationship Type="http://schemas.openxmlformats.org/officeDocument/2006/relationships/notesSlide" Target="/ppt/notesSlides/notesSlide5.xml" Id="R8d9a494638004d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253669baed4fd2" /><Relationship Type="http://schemas.openxmlformats.org/officeDocument/2006/relationships/notesSlide" Target="/ppt/notesSlides/notesSlide6.xml" Id="Rc548770857154d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e334680ae4186" /><Relationship Type="http://schemas.openxmlformats.org/officeDocument/2006/relationships/notesSlide" Target="/ppt/notesSlides/notesSlide7.xml" Id="Raa31ca82a4c043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96b1490f16481e" /><Relationship Type="http://schemas.openxmlformats.org/officeDocument/2006/relationships/notesSlide" Target="/ppt/notesSlides/notesSlide8.xml" Id="R5c79c7f20ab744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1d49a5707442e" /><Relationship Type="http://schemas.openxmlformats.org/officeDocument/2006/relationships/notesSlide" Target="/ppt/notesSlides/notesSlide9.xml" Id="Rf4cf1222b0264f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d9ef8d56c48d9" /><Relationship Type="http://schemas.openxmlformats.org/officeDocument/2006/relationships/chart" Target="/ppt/slides/charts/chart1.xml" Id="Rf81f04ff5c0a4d32" /><Relationship Type="http://schemas.openxmlformats.org/officeDocument/2006/relationships/notesSlide" Target="/ppt/notesSlides/notesSlide10.xml" Id="R9c6e49ece60c40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12b98434b4ba2" /><Relationship Type="http://schemas.openxmlformats.org/officeDocument/2006/relationships/chart" Target="/ppt/slides/charts/chart2.xml" Id="Rdfe26d344d764771" /><Relationship Type="http://schemas.openxmlformats.org/officeDocument/2006/relationships/notesSlide" Target="/ppt/notesSlides/notesSlide11.xml" Id="R2f97042d4d3449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17a98190b249b1" /><Relationship Type="http://schemas.openxmlformats.org/officeDocument/2006/relationships/chart" Target="/ppt/slides/charts/chart3.xml" Id="Ra92a3ae7859a472f" /><Relationship Type="http://schemas.openxmlformats.org/officeDocument/2006/relationships/notesSlide" Target="/ppt/notesSlides/notesSlide12.xml" Id="R58078445b5a84b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404d2ba764024" /><Relationship Type="http://schemas.openxmlformats.org/officeDocument/2006/relationships/chart" Target="/ppt/slides/charts/chart4.xml" Id="R9c5f338da3f3494a" /><Relationship Type="http://schemas.openxmlformats.org/officeDocument/2006/relationships/notesSlide" Target="/ppt/notesSlides/notesSlide13.xml" Id="R4071a108c84446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9bc6dcd7bb4c2e" /><Relationship Type="http://schemas.openxmlformats.org/officeDocument/2006/relationships/chart" Target="/ppt/slides/charts/chart5.xml" Id="R724e2c8cd6a44e70" /><Relationship Type="http://schemas.openxmlformats.org/officeDocument/2006/relationships/notesSlide" Target="/ppt/notesSlides/notesSlide14.xml" Id="Rb32b0903a7764b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90da40cac4674" /><Relationship Type="http://schemas.openxmlformats.org/officeDocument/2006/relationships/notesSlide" Target="/ppt/notesSlides/notesSlide15.xml" Id="R35bc735c651d4a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0519644b848be" /><Relationship Type="http://schemas.openxmlformats.org/officeDocument/2006/relationships/notesSlide" Target="/ppt/notesSlides/notesSlide16.xml" Id="R2e49b3c4fd8b432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Played track hours</c:v>
          </c:tx>
          <c:spPr>
            <a:solidFill xmlns:a="http://schemas.openxmlformats.org/drawingml/2006/main">
              <a:srgbClr val="285F5D"/>
            </a:solidFill>
            <a:ln xmlns:a="http://schemas.openxmlformats.org/drawingml/2006/main" w="28575">
              <a:solidFill>
                <a:srgbClr val="285F5D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Free</c:v>
                </c:pt>
                <c:pt idx="1">
                  <c:v>Paid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85.81</c:v>
                </c:pt>
                <c:pt idx="1">
                  <c:v>382.18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A29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C7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DFD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3E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3E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Active listeners</c:v>
          </c:tx>
          <c:spPr>
            <a:solidFill xmlns:a="http://schemas.openxmlformats.org/drawingml/2006/main">
              <a:srgbClr val="C55D40"/>
            </a:solidFill>
            <a:ln xmlns:a="http://schemas.openxmlformats.org/drawingml/2006/main" w="28575">
              <a:solidFill>
                <a:srgbClr val="C55D40"/>
              </a:solidFill>
            </a:ln>
          </c:spPr>
          <c:marker>
            <c:symbol val="none"/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</c:formatCode>
                <c:ptCount val="30"/>
                <c:pt idx="0">
                  <c:v>4</c:v>
                </c:pt>
                <c:pt idx="1">
                  <c:v>21</c:v>
                </c:pt>
                <c:pt idx="2">
                  <c:v>10</c:v>
                </c:pt>
                <c:pt idx="3">
                  <c:v>20</c:v>
                </c:pt>
                <c:pt idx="4">
                  <c:v>28</c:v>
                </c:pt>
                <c:pt idx="5">
                  <c:v>21</c:v>
                </c:pt>
                <c:pt idx="6">
                  <c:v>24</c:v>
                </c:pt>
                <c:pt idx="7">
                  <c:v>22</c:v>
                </c:pt>
                <c:pt idx="8">
                  <c:v>26</c:v>
                </c:pt>
                <c:pt idx="9">
                  <c:v>17</c:v>
                </c:pt>
                <c:pt idx="10">
                  <c:v>15</c:v>
                </c:pt>
                <c:pt idx="11">
                  <c:v>24</c:v>
                </c:pt>
                <c:pt idx="12">
                  <c:v>25</c:v>
                </c:pt>
                <c:pt idx="13">
                  <c:v>28</c:v>
                </c:pt>
                <c:pt idx="14">
                  <c:v>21</c:v>
                </c:pt>
                <c:pt idx="15">
                  <c:v>22</c:v>
                </c:pt>
                <c:pt idx="16">
                  <c:v>14</c:v>
                </c:pt>
                <c:pt idx="17">
                  <c:v>12</c:v>
                </c:pt>
                <c:pt idx="18">
                  <c:v>31</c:v>
                </c:pt>
                <c:pt idx="19">
                  <c:v>27</c:v>
                </c:pt>
                <c:pt idx="20">
                  <c:v>25</c:v>
                </c:pt>
                <c:pt idx="21">
                  <c:v>12</c:v>
                </c:pt>
                <c:pt idx="22">
                  <c:v>26</c:v>
                </c:pt>
                <c:pt idx="23">
                  <c:v>18</c:v>
                </c:pt>
                <c:pt idx="24">
                  <c:v>9</c:v>
                </c:pt>
                <c:pt idx="25">
                  <c:v>22</c:v>
                </c:pt>
                <c:pt idx="26">
                  <c:v>21</c:v>
                </c:pt>
                <c:pt idx="27">
                  <c:v>34</c:v>
                </c:pt>
                <c:pt idx="28">
                  <c:v>27</c:v>
                </c:pt>
                <c:pt idx="29">
                  <c:v>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A29"/>
                  </a:solidFill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C7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DFD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3E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3E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Songplays</c:v>
          </c:tx>
          <c:spPr>
            <a:solidFill xmlns:a="http://schemas.openxmlformats.org/drawingml/2006/main">
              <a:srgbClr val="285F5D"/>
            </a:solidFill>
            <a:ln xmlns:a="http://schemas.openxmlformats.org/drawingml/2006/main" w="28575">
              <a:solidFill>
                <a:srgbClr val="285F5D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Night
00–05 UTC</c:v>
                </c:pt>
                <c:pt idx="1">
                  <c:v>Morning
06–11 UTC</c:v>
                </c:pt>
                <c:pt idx="2">
                  <c:v>Afternoon
12–17 UTC</c:v>
                </c:pt>
                <c:pt idx="3">
                  <c:v>Evening
18–23 UTC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833</c:v>
                </c:pt>
                <c:pt idx="1">
                  <c:v>1487</c:v>
                </c:pt>
                <c:pt idx="2">
                  <c:v>2577</c:v>
                </c:pt>
                <c:pt idx="3">
                  <c:v>1923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A29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C7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DFD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3E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3E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Songplays</c:v>
          </c:tx>
          <c:spPr>
            <a:solidFill xmlns:a="http://schemas.openxmlformats.org/drawingml/2006/main">
              <a:srgbClr val="C55D40"/>
            </a:solidFill>
            <a:ln xmlns:a="http://schemas.openxmlformats.org/drawingml/2006/main" w="28575">
              <a:solidFill>
                <a:srgbClr val="C55D40"/>
              </a:solidFill>
            </a:ln>
          </c:spPr>
          <c:invertIfNegative val="0"/>
          <c:cat>
            <c:strRef>
              <c:f>'Chart Data'!$A$2:$A$7</c:f>
              <c:strCache>
                <c:ptCount val="6"/>
                <c:pt idx="0">
                  <c:v>Jack Johnson</c:v>
                </c:pt>
                <c:pt idx="1">
                  <c:v>Florence + The Machine</c:v>
                </c:pt>
                <c:pt idx="2">
                  <c:v>The Black Keys</c:v>
                </c:pt>
                <c:pt idx="3">
                  <c:v>Dwight Yoakam</c:v>
                </c:pt>
                <c:pt idx="4">
                  <c:v>Kings Of Leon</c:v>
                </c:pt>
                <c:pt idx="5">
                  <c:v>Coldplay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35</c:v>
                </c:pt>
                <c:pt idx="1">
                  <c:v>35</c:v>
                </c:pt>
                <c:pt idx="2">
                  <c:v>36</c:v>
                </c:pt>
                <c:pt idx="3">
                  <c:v>38</c:v>
                </c:pt>
                <c:pt idx="4">
                  <c:v>55</c:v>
                </c:pt>
                <c:pt idx="5">
                  <c:v>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A29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C7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DFD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3E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3E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Accounts</c:v>
          </c:tx>
          <c:spPr>
            <a:solidFill xmlns:a="http://schemas.openxmlformats.org/drawingml/2006/main">
              <a:srgbClr val="285F5D"/>
            </a:solidFill>
            <a:ln xmlns:a="http://schemas.openxmlformats.org/drawingml/2006/main" w="28575">
              <a:solidFill>
                <a:srgbClr val="285F5D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ฟังลดลง</c:v>
                </c:pt>
                <c:pt idx="1">
                  <c:v>Inactive 7d</c:v>
                </c:pt>
                <c:pt idx="2">
                  <c:v>ประวัติไม่พอ</c:v>
                </c:pt>
                <c:pt idx="3">
                  <c:v>ไม่เข้าเงื่อนไข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18</c:v>
                </c:pt>
                <c:pt idx="1">
                  <c:v>19</c:v>
                </c:pt>
                <c:pt idx="2">
                  <c:v>9</c:v>
                </c:pt>
                <c:pt idx="3">
                  <c:v>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A29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C7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DFD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3E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3E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B43DF-FB16-4679-AE4C-D80C2B9A7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5875ab7574a7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คลังข้อมูล&#10;พฤติกรรม&#10;การสตรีมเพลง">
            <a:extLst xmlns:a="http://schemas.openxmlformats.org/drawingml/2006/main">
              <a:ext uri="{FF2B5EF4-FFF2-40B4-BE49-F238E27FC236}">
                <a16:creationId xmlns:a16="http://schemas.microsoft.com/office/drawing/2014/main" id="{C3881A2F-3640-461A-AF2D-5F1DBB18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5715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457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คลังข้อมูล</a:t>
            </a:r>
          </a:p>
          <a:p xmlns:a="http://schemas.openxmlformats.org/drawingml/2006/main">
            <a: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457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พฤติกรรม</a:t>
            </a:r>
          </a:p>
          <a:p xmlns:a="http://schemas.openxmlformats.org/drawingml/2006/main">
            <a:pPr>
              <a:defRPr sz="457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457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การสตรีมเพลง</a:t>
            </a:r>
          </a:p>
        </p:txBody>
      </p:sp>
      <p:sp>
        <p:nvSpPr>
          <p:cNvPr id="3" name="Music Streaming Analytics&#10;&amp; Subscri">
            <a:extLst xmlns:a="http://schemas.openxmlformats.org/drawingml/2006/main">
              <a:ext uri="{FF2B5EF4-FFF2-40B4-BE49-F238E27FC236}">
                <a16:creationId xmlns:a16="http://schemas.microsoft.com/office/drawing/2014/main" id="{77CC874F-85E9-47A0-85E3-0420142E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23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defPPr>
            <a:lvl1pPr>
              <a:defRPr sz="23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1pPr>
            <a:lvl2pPr>
              <a:defRPr sz="23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2pPr>
            <a:lvl3pPr>
              <a:defRPr sz="23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3pPr>
            <a:lvl4pPr>
              <a:defRPr sz="23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4pPr>
            <a:lvl5pPr>
              <a:defRPr sz="23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5pPr>
            <a:lvl6pPr>
              <a:defRPr sz="23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6pPr>
            <a:lvl7pPr>
              <a:defRPr sz="23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7pPr>
            <a:lvl8pPr>
              <a:defRPr sz="23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8pPr>
            <a:lvl9pPr>
              <a:defRPr sz="23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285F5D"/>
                </a:solidFill>
                <a:latin typeface="Tahoma"/>
                <a:ea typeface="Tahoma"/>
                <a:cs typeface="Tahoma"/>
              </a:rPr>
              <a:t>Music Streaming Analytics</a:t>
            </a:r>
          </a:p>
          <a:p xmlns:a="http://schemas.openxmlformats.org/drawingml/2006/main">
            <a:pPr>
              <a:defRPr sz="23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285F5D"/>
                </a:solidFill>
                <a:latin typeface="Tahoma"/>
                <a:ea typeface="Tahoma"/>
                <a:cs typeface="Tahoma"/>
              </a:rPr>
              <a:t>&amp; Subscription Engagement</a:t>
            </a:r>
          </a:p>
        </p:txBody>
      </p:sp>
      <p:sp>
        <p:nvSpPr>
          <p:cNvPr id="4" name="Sparkify Data Warehouse&#10;Data Wareho">
            <a:extLst xmlns:a="http://schemas.openxmlformats.org/drawingml/2006/main">
              <a:ext uri="{FF2B5EF4-FFF2-40B4-BE49-F238E27FC236}">
                <a16:creationId xmlns:a16="http://schemas.microsoft.com/office/drawing/2014/main" id="{67ECD997-9CE2-4334-9E3A-3AAAE39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Sparkify Data Warehouse</a:t>
            </a:r>
          </a:p>
          <a:p xmlns:a="http://schemas.openxmlformats.org/drawingml/2006/main">
            <a:pPr>
              <a:defRPr sz="16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Data Warehouse Course Project</a:t>
            </a:r>
          </a:p>
        </p:txBody>
      </p:sp>
    </p:spTree>
    <p:extLst>
      <p:ext uri="{BB962C8B-B14F-4D97-AF65-F5344CB8AC3E}">
        <p14:creationId xmlns:p14="http://schemas.microsoft.com/office/powerpoint/2010/main" val="1291970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บริบทธุรกิจและคำถามที่ต้องตอบ">
            <a:extLst xmlns:a="http://schemas.openxmlformats.org/drawingml/2006/main">
              <a:ext uri="{FF2B5EF4-FFF2-40B4-BE49-F238E27FC236}">
                <a16:creationId xmlns:a16="http://schemas.microsoft.com/office/drawing/2014/main" id="{D2043B00-5D80-454D-BAF3-40CFF002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บริบทธุรกิจและคำถามที่ต้องตอบ</a:t>
            </a:r>
          </a:p>
        </p:txBody>
      </p:sp>
      <p:sp>
        <p:nvSpPr>
          <p:cNvPr id="2" name="Freemium music streaming มีทั้งผู้ใ">
            <a:extLst xmlns:a="http://schemas.openxmlformats.org/drawingml/2006/main">
              <a:ext uri="{FF2B5EF4-FFF2-40B4-BE49-F238E27FC236}">
                <a16:creationId xmlns:a16="http://schemas.microsoft.com/office/drawing/2014/main" id="{F8624633-488D-4DA7-9940-FF8F5709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Freemium music streaming มีทั้งผู้ใช้ฟรีและผู้จ่ายค่าสมาชิก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8401BF16-80BA-45AE-BDF4-C67E6064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4" name="ทีมคอนเทนต์">
            <a:extLst xmlns:a="http://schemas.openxmlformats.org/drawingml/2006/main">
              <a:ext uri="{FF2B5EF4-FFF2-40B4-BE49-F238E27FC236}">
                <a16:creationId xmlns:a16="http://schemas.microsoft.com/office/drawing/2014/main" id="{75BCC3B5-6EF7-46E5-98E3-B577A19E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defPPr>
            <a:lvl1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1pPr>
            <a:lvl2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2pPr>
            <a:lvl3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3pPr>
            <a:lvl4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4pPr>
            <a:lvl5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5pPr>
            <a:lvl6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6pPr>
            <a:lvl7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7pPr>
            <a:lvl8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8pPr>
            <a:lvl9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285F5D"/>
                </a:solidFill>
                <a:latin typeface="Tahoma"/>
                <a:ea typeface="Tahoma"/>
                <a:cs typeface="Tahoma"/>
              </a:rPr>
              <a:t>ทีมคอนเทนต์</a:t>
            </a:r>
          </a:p>
        </p:txBody>
      </p:sp>
      <p:sp>
        <p:nvSpPr>
          <p:cNvPr id="5" name="เพลงและศิลปินใดได้รับความนิยม&#10;ในแต่">
            <a:extLst xmlns:a="http://schemas.openxmlformats.org/drawingml/2006/main">
              <a:ext uri="{FF2B5EF4-FFF2-40B4-BE49-F238E27FC236}">
                <a16:creationId xmlns:a16="http://schemas.microsoft.com/office/drawing/2014/main" id="{965C6CE4-1520-4D34-867C-FC22EC4F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5000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เพลงและศิลปินใดได้รับความนิยม</a:t>
            </a:r>
          </a:p>
          <a:p xmlns:a="http://schemas.openxmlformats.org/drawingml/2006/main">
            <a: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ในแต่ละช่วงเวลาของวัน</a:t>
            </a:r>
          </a:p>
        </p:txBody>
      </p:sp>
      <p:sp>
        <p:nvSpPr>
          <p:cNvPr id="6" name="ใช้วางแผนเพลย์ลิสต์&#10;และช่วงเวลานำเส">
            <a:extLst xmlns:a="http://schemas.openxmlformats.org/drawingml/2006/main">
              <a:ext uri="{FF2B5EF4-FFF2-40B4-BE49-F238E27FC236}">
                <a16:creationId xmlns:a16="http://schemas.microsoft.com/office/drawing/2014/main" id="{B2848FD4-FCCA-4466-9204-77C3F4CF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ใช้วางแผนเพลย์ลิสต์</a:t>
            </a:r>
          </a:p>
          <a:p xmlns:a="http://schemas.openxmlformats.org/drawingml/2006/main">
            <a: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และช่วงเวลานำเสนอคอนเทนต์</a:t>
            </a:r>
          </a:p>
        </p:txBody>
      </p:sp>
      <p:sp>
        <p:nvSpPr>
          <p:cNvPr id="7" name="ทีมดูแลสมาชิก">
            <a:extLst xmlns:a="http://schemas.openxmlformats.org/drawingml/2006/main">
              <a:ext uri="{FF2B5EF4-FFF2-40B4-BE49-F238E27FC236}">
                <a16:creationId xmlns:a16="http://schemas.microsoft.com/office/drawing/2014/main" id="{F3761C25-B65B-4F55-982E-FC815B70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431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defPPr>
            <a:lvl1pPr>
              <a:defRPr sz="255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1pPr>
            <a:lvl2pPr>
              <a:defRPr sz="255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2pPr>
            <a:lvl3pPr>
              <a:defRPr sz="255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3pPr>
            <a:lvl4pPr>
              <a:defRPr sz="255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4pPr>
            <a:lvl5pPr>
              <a:defRPr sz="255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5pPr>
            <a:lvl6pPr>
              <a:defRPr sz="255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6pPr>
            <a:lvl7pPr>
              <a:defRPr sz="255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7pPr>
            <a:lvl8pPr>
              <a:defRPr sz="255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8pPr>
            <a:lvl9pPr>
              <a:defRPr sz="255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C55D40"/>
                </a:solidFill>
                <a:latin typeface="Tahoma"/>
                <a:ea typeface="Tahoma"/>
                <a:cs typeface="Tahoma"/>
              </a:rPr>
              <a:t>ทีมดูแลสมาชิก</a:t>
            </a:r>
          </a:p>
        </p:txBody>
      </p:sp>
      <p:sp>
        <p:nvSpPr>
          <p:cNvPr id="8" name="ผู้ใช้รายใดมีการฟังลดลง&#10;หรือหยุดใช้">
            <a:extLst xmlns:a="http://schemas.openxmlformats.org/drawingml/2006/main">
              <a:ext uri="{FF2B5EF4-FFF2-40B4-BE49-F238E27FC236}">
                <a16:creationId xmlns:a16="http://schemas.microsoft.com/office/drawing/2014/main" id="{67E18A02-748B-4B4B-9E08-2A743920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28925"/>
            <a:ext cx="5000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ผู้ใช้รายใดมีการฟังลดลง</a:t>
            </a:r>
          </a:p>
          <a:p xmlns:a="http://schemas.openxmlformats.org/drawingml/2006/main">
            <a: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หรือหยุดใช้งานต่อเนื่อง</a:t>
            </a:r>
          </a:p>
        </p:txBody>
      </p:sp>
      <p:sp>
        <p:nvSpPr>
          <p:cNvPr id="9" name="ใช้คัดกรองเพื่อตรวจสอบเพิ่มเติม&#10;ก่อ">
            <a:extLst xmlns:a="http://schemas.openxmlformats.org/drawingml/2006/main">
              <a:ext uri="{FF2B5EF4-FFF2-40B4-BE49-F238E27FC236}">
                <a16:creationId xmlns:a16="http://schemas.microsoft.com/office/drawing/2014/main" id="{4BB6E191-6D79-46A2-9E15-EDF56C35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ใช้คัดกรองเพื่อตรวจสอบเพิ่มเติม</a:t>
            </a:r>
          </a:p>
          <a:p xmlns:a="http://schemas.openxmlformats.org/drawingml/2006/main">
            <a:pPr>
              <a:defRPr sz="19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ก่อนออกแบบกิจกรรมรักษาสมาชิก</a:t>
            </a:r>
          </a:p>
        </p:txBody>
      </p:sp>
    </p:spTree>
    <p:extLst>
      <p:ext uri="{BB962C8B-B14F-4D97-AF65-F5344CB8AC3E}">
        <p14:creationId xmlns:p14="http://schemas.microsoft.com/office/powerpoint/2010/main" val="312412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ข้อมูลจริงที่ใช้ในโครงการ">
            <a:extLst xmlns:a="http://schemas.openxmlformats.org/drawingml/2006/main">
              <a:ext uri="{FF2B5EF4-FFF2-40B4-BE49-F238E27FC236}">
                <a16:creationId xmlns:a16="http://schemas.microsoft.com/office/drawing/2014/main" id="{A2107139-5E6A-44B6-8E66-0377D108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ข้อมูลจริงที่ใช้ในโครงการ</a:t>
            </a:r>
          </a:p>
        </p:txBody>
      </p:sp>
      <p:sp>
        <p:nvSpPr>
          <p:cNvPr id="2" name="Sparkify JSON archives ที่ได้รับมาใ">
            <a:extLst xmlns:a="http://schemas.openxmlformats.org/drawingml/2006/main">
              <a:ext uri="{FF2B5EF4-FFF2-40B4-BE49-F238E27FC236}">
                <a16:creationId xmlns:a16="http://schemas.microsoft.com/office/drawing/2014/main" id="{7EA31F3E-9353-4102-86D1-7CD44D63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Sparkify JSON archives ที่ได้รับมาในเครื่อง ช่วงพฤศจิกายน 2018 (UTC)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70176259-D091-4DA2-B56C-B16FE7E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AF453-3AF5-4EFB-930A-748629D730A8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95500"/>
                <a:gridCol w="6019800"/>
              </a:tblGrid>
              <a:tr h="714375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แหล่งข้อมูล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จำนวน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เนื้อหาหลัก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</a:tr>
              <a:tr h="71437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log_data.zip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8,056 events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ผู้ใช้ เวลา page เพลง และ level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song_data.zip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14,896 rows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ชื่อเพลง ศิลปิน ID และ duration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</a:tr>
              <a:tr h="71437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ผู้ใช้ที่พบใน logs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97 accounts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96 accounts มี NextSong ในเดือนนี้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ตรวจ SHA-256 และเปิดอ่าน ZIP จริงแล">
            <a:extLst xmlns:a="http://schemas.openxmlformats.org/drawingml/2006/main">
              <a:ext uri="{FF2B5EF4-FFF2-40B4-BE49-F238E27FC236}">
                <a16:creationId xmlns:a16="http://schemas.microsoft.com/office/drawing/2014/main" id="{917DF77B-0F7C-43AB-BD0D-432750AE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defPPr>
            <a:lvl1pPr>
              <a:defRPr sz="18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1pPr>
            <a:lvl2pPr>
              <a:defRPr sz="18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2pPr>
            <a:lvl3pPr>
              <a:defRPr sz="18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3pPr>
            <a:lvl4pPr>
              <a:defRPr sz="18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4pPr>
            <a:lvl5pPr>
              <a:defRPr sz="18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5pPr>
            <a:lvl6pPr>
              <a:defRPr sz="18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6pPr>
            <a:lvl7pPr>
              <a:defRPr sz="18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7pPr>
            <a:lvl8pPr>
              <a:defRPr sz="18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8pPr>
            <a:lvl9pPr>
              <a:defRPr sz="18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C55D40"/>
                </a:solidFill>
                <a:latin typeface="Tahoma"/>
                <a:ea typeface="Tahoma"/>
                <a:cs typeface="Tahoma"/>
              </a:rPr>
              <a:t>ตรวจ SHA-256 และเปิดอ่าน ZIP จริงแล้ว</a:t>
            </a:r>
          </a:p>
          <a:p xmlns:a="http://schemas.openxmlformats.org/drawingml/2006/main">
            <a:pPr>
              <a:defRPr sz="18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C55D40"/>
                </a:solidFill>
                <a:latin typeface="Tahoma"/>
                <a:ea typeface="Tahoma"/>
                <a:cs typeface="Tahoma"/>
              </a:rPr>
              <a:t>ยังไม่มี Genre, Skip, Dislike หรือเหตุการณ์ยืนยันยกเลิกสมาชิก</a:t>
            </a:r>
          </a:p>
        </p:txBody>
      </p:sp>
    </p:spTree>
    <p:extLst>
      <p:ext uri="{BB962C8B-B14F-4D97-AF65-F5344CB8AC3E}">
        <p14:creationId xmlns:p14="http://schemas.microsoft.com/office/powerpoint/2010/main" val="1894294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ubject Area, Business Process และ ">
            <a:extLst xmlns:a="http://schemas.openxmlformats.org/drawingml/2006/main">
              <a:ext uri="{FF2B5EF4-FFF2-40B4-BE49-F238E27FC236}">
                <a16:creationId xmlns:a16="http://schemas.microsoft.com/office/drawing/2014/main" id="{A07E8F25-7E11-48DD-864D-D6D4AAE6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Subject Area, Business Process และ KPI</a:t>
            </a:r>
          </a:p>
        </p:txBody>
      </p:sp>
      <p:sp>
        <p:nvSpPr>
          <p:cNvPr id="2" name="นิยามตัวชี้วัดก่อนสร้าง Fact และ Di">
            <a:extLst xmlns:a="http://schemas.openxmlformats.org/drawingml/2006/main">
              <a:ext uri="{FF2B5EF4-FFF2-40B4-BE49-F238E27FC236}">
                <a16:creationId xmlns:a16="http://schemas.microsoft.com/office/drawing/2014/main" id="{91862550-FB06-4598-B108-054A0E38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นิยามตัวชี้วัดก่อนสร้าง Fact และ Dimension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CFEDDABA-3405-4945-B956-64A6CC62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C3C46-CAA1-4A21-9D7B-37AA65D93604}"/>
              </a:ext>
            </a:extLst>
          </p:cNvPr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4238625"/>
                <a:gridCol w="2876550"/>
              </a:tblGrid>
              <a:tr h="74676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Subject Area / Process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KPI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Grain ของรายงาน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</a:tr>
              <a:tr h="74676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User Engagement</a:t>
                      </a:r>
                    </a:p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Activity tracking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DAU / MAU ของผู้ที่มี NextSong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วัน / เดือน UTC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Music Consumption</a:t>
                      </a:r>
                    </a:p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Streaming &amp; popularity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Songplays, Top artists / songs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ช่วงเวลา และคอนเทนต์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</a:tr>
              <a:tr h="74676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Subscription</a:t>
                      </a:r>
                    </a:p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Observed membership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Free/Paid played track hours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วัน และ level ณ event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Retention Monitoring</a:t>
                      </a:r>
                    </a:p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Engagement screening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ฟังลดลง / inactive 7 วัน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ผู้ใช้ ณวัน cutoff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</a:tr>
            </a:tbl>
          </a:graphicData>
        </a:graphic>
      </p:graphicFrame>
      <p:sp>
        <p:nvSpPr>
          <p:cNvPr id="5" name="Played track hours = ผลรวมความยาวเพ">
            <a:extLst xmlns:a="http://schemas.openxmlformats.org/drawingml/2006/main">
              <a:ext uri="{FF2B5EF4-FFF2-40B4-BE49-F238E27FC236}">
                <a16:creationId xmlns:a16="http://schemas.microsoft.com/office/drawing/2014/main" id="{AEA4B9B0-E808-4F70-ADD4-2524D20B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C55D40"/>
                </a:solidFill>
                <a:latin typeface="Tahoma"/>
                <a:ea typeface="Tahoma"/>
                <a:cs typeface="Tahoma"/>
              </a:rPr>
              <a:t>Played track hours = ผลรวมความยาวเพลง ÷ 3,600 จึงยังยืนยันเวลาฟังจริงไม่ได้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2009742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2178E-7A11-4031-AE15-0C727DBC593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05850" y="5057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B5308-7101-43C1-BC00-938FB786CBD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7515225" y="3714750"/>
            <a:ext cx="285750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2BA0A-FD15-43B0-8C9D-E01FB596C5D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0585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11CC0-0F7F-4242-8104-0AB99DA9425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4835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CC6FB-1500-405F-AD12-3E972213B98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9085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sp>
        <p:nvSpPr>
          <p:cNvPr id="16" name="สถาปัตยกรรม Data Pipeline">
            <a:extLst xmlns:a="http://schemas.openxmlformats.org/drawingml/2006/main">
              <a:ext uri="{FF2B5EF4-FFF2-40B4-BE49-F238E27FC236}">
                <a16:creationId xmlns:a16="http://schemas.microsoft.com/office/drawing/2014/main" id="{77BE394D-A83C-4794-A65F-D1F3D333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สถาปัตยกรรม Data Pipeline</a:t>
            </a:r>
          </a:p>
        </p:txBody>
      </p:sp>
      <p:sp>
        <p:nvSpPr>
          <p:cNvPr id="2" name="โหลดข้อมูลซ้ำได้ และทดสอบคุณภาพก่อน">
            <a:extLst xmlns:a="http://schemas.openxmlformats.org/drawingml/2006/main">
              <a:ext uri="{FF2B5EF4-FFF2-40B4-BE49-F238E27FC236}">
                <a16:creationId xmlns:a16="http://schemas.microsoft.com/office/drawing/2014/main" id="{A35C542F-56B1-4E54-8BFC-B8D4DB96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โหลดข้อมูลซ้ำได้ และทดสอบคุณภาพก่อนส่งผลไป BI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ACFB4F42-385A-498D-8690-9DE271F4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27E4A-C860-44C9-946C-B7D219D2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ZIP / JSON</a:t>
            </a:r>
          </a:p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Event logs + Song catalog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6D471-098F-461A-B022-9543F424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Python</a:t>
            </a:r>
          </a:p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อ่านไฟล์ + Deduplicate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ED90C-E25F-4858-B055-F2091D84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PostgreSQL / DuckDB</a:t>
            </a:r>
          </a:p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Raw 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424FB-BECC-4CC5-8092-B84206B9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dbt</a:t>
            </a:r>
          </a:p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Dimensions +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F9C82-F980-4B96-BC12-380596B4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Data tests</a:t>
            </a:r>
          </a:p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Keys / FK / Reconciliation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8CCDD-57EF-4A47-BA60-5B2C347E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1485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Reporting + Metabase</a:t>
            </a:r>
          </a:p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KPI / Listening / Screening</a:t>
            </a:r>
          </a:p>
        </p:txBody>
      </p:sp>
      <p:sp>
        <p:nvSpPr>
          <p:cNvPr id="15" name="SHA-256 event key&#10;ป้องกัน duplicate">
            <a:extLst xmlns:a="http://schemas.openxmlformats.org/drawingml/2006/main">
              <a:ext uri="{FF2B5EF4-FFF2-40B4-BE49-F238E27FC236}">
                <a16:creationId xmlns:a16="http://schemas.microsoft.com/office/drawing/2014/main" id="{6155887F-BA1B-4658-A213-79902DDD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defPPr>
            <a:lvl1pPr>
              <a:defRPr sz="20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1pPr>
            <a:lvl2pPr>
              <a:defRPr sz="20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2pPr>
            <a:lvl3pPr>
              <a:defRPr sz="20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3pPr>
            <a:lvl4pPr>
              <a:defRPr sz="20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4pPr>
            <a:lvl5pPr>
              <a:defRPr sz="20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5pPr>
            <a:lvl6pPr>
              <a:defRPr sz="20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6pPr>
            <a:lvl7pPr>
              <a:defRPr sz="20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7pPr>
            <a:lvl8pPr>
              <a:defRPr sz="20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8pPr>
            <a:lvl9pPr>
              <a:defRPr sz="20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285F5D"/>
                </a:solidFill>
                <a:latin typeface="Tahoma"/>
                <a:ea typeface="Tahoma"/>
                <a:cs typeface="Tahoma"/>
              </a:rPr>
              <a:t>SHA-256 event key</a:t>
            </a:r>
          </a:p>
          <a:p xmlns:a="http://schemas.openxmlformats.org/drawingml/2006/main">
            <a:pPr>
              <a:defRPr sz="20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285F5D"/>
                </a:solidFill>
                <a:latin typeface="Tahoma"/>
                <a:ea typeface="Tahoma"/>
                <a:cs typeface="Tahoma"/>
              </a:rPr>
              <a:t>ป้องกัน duplicate replay</a:t>
            </a:r>
          </a:p>
        </p:txBody>
      </p:sp>
    </p:spTree>
    <p:extLst>
      <p:ext uri="{BB962C8B-B14F-4D97-AF65-F5344CB8AC3E}">
        <p14:creationId xmlns:p14="http://schemas.microsoft.com/office/powerpoint/2010/main" val="477810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66E78-9CDE-4E81-8789-F3E1E1115E43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7962900" y="3733800"/>
            <a:ext cx="971550" cy="1371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AF584-A31F-4A39-94CA-7696FB6DFE8E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7962900" y="3733800"/>
            <a:ext cx="97155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05D36-B618-4435-AA62-D11737182C1B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7962900" y="2552700"/>
            <a:ext cx="97155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D2459-F847-4257-96B5-08BB8280E9D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257550" y="3733800"/>
            <a:ext cx="990600" cy="1371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E5026-FC0A-4453-9E04-3B566A00436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257550" y="3733800"/>
            <a:ext cx="99060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C42CF-7C7B-439A-BB3B-EE5F12D54A1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257550" y="2552700"/>
            <a:ext cx="99060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sp>
        <p:nvSpPr>
          <p:cNvPr id="18" name="Star Schema และความละเอียดของ Fact">
            <a:extLst xmlns:a="http://schemas.openxmlformats.org/drawingml/2006/main">
              <a:ext uri="{FF2B5EF4-FFF2-40B4-BE49-F238E27FC236}">
                <a16:creationId xmlns:a16="http://schemas.microsoft.com/office/drawing/2014/main" id="{3FAC1E97-32AC-4CCA-B1A3-90C9A8FC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Star Schema และความละเอียดของ Fact</a:t>
            </a:r>
          </a:p>
        </p:txBody>
      </p:sp>
      <p:sp>
        <p:nvSpPr>
          <p:cNvPr id="2" name="Transaction fact: 1 แถวต่อ 1 distin">
            <a:extLst xmlns:a="http://schemas.openxmlformats.org/drawingml/2006/main">
              <a:ext uri="{FF2B5EF4-FFF2-40B4-BE49-F238E27FC236}">
                <a16:creationId xmlns:a16="http://schemas.microsoft.com/office/drawing/2014/main" id="{909D72B5-7A3D-402E-8987-D7C76A52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Transaction fact: 1 แถวต่อ 1 distinct event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775D9AEA-90A4-4F7F-9ECB-8582DE8E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DEABF-D8DE-4569-83E6-C8317364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3714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fact_user_events</a:t>
            </a:r>
          </a:p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event_id (PK)</a:t>
            </a:r>
          </a:p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FK: user / time / song / level</a:t>
            </a:r>
          </a:p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Measures: event count, songplay, track seconds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9782E-B697-4668-BCAD-49945F14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dim_user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77388-8AF4-4B89-98BC-20FB9253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dim_time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614CC-6BEB-4E59-87B2-E96CA5BD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dim_device / 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A88F0-5FAB-42BB-98CD-E7F8962F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dim_song / artist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D48D1-A8E9-4395-B9C0-0B7DC04D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dim_subscription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FDBEA-6B48-43EE-AA28-4B73D458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6725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dim_interaction</a:t>
            </a:r>
          </a:p>
        </p:txBody>
      </p:sp>
      <p:sp>
        <p:nvSpPr>
          <p:cNvPr id="17" name="dim_user_subscription เก็บประวัติ F">
            <a:extLst xmlns:a="http://schemas.openxmlformats.org/drawingml/2006/main">
              <a:ext uri="{FF2B5EF4-FFF2-40B4-BE49-F238E27FC236}">
                <a16:creationId xmlns:a16="http://schemas.microsoft.com/office/drawing/2014/main" id="{9320602D-D429-46C0-8F03-CAEF5FA2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defPPr>
            <a:lvl1pPr>
              <a:defRPr sz="17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1pPr>
            <a:lvl2pPr>
              <a:defRPr sz="17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2pPr>
            <a:lvl3pPr>
              <a:defRPr sz="17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3pPr>
            <a:lvl4pPr>
              <a:defRPr sz="17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4pPr>
            <a:lvl5pPr>
              <a:defRPr sz="17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5pPr>
            <a:lvl6pPr>
              <a:defRPr sz="17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6pPr>
            <a:lvl7pPr>
              <a:defRPr sz="17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7pPr>
            <a:lvl8pPr>
              <a:defRPr sz="17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8pPr>
            <a:lvl9pPr>
              <a:defRPr sz="17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85F5D"/>
                </a:solidFill>
                <a:latin typeface="Tahoma"/>
                <a:ea typeface="Tahoma"/>
                <a:cs typeface="Tahoma"/>
              </a:rPr>
              <a:t>dim_user_subscription เก็บประวัติ Free/Paid แบบช่วงเวลา</a:t>
            </a:r>
          </a:p>
          <a:p xmlns:a="http://schemas.openxmlformats.org/drawingml/2006/main">
            <a:pPr>
              <a:defRPr sz="1725" b="0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85F5D"/>
                </a:solidFill>
                <a:latin typeface="Tahoma"/>
                <a:ea typeface="Tahoma"/>
                <a:cs typeface="Tahoma"/>
              </a:rPr>
              <a:t>fact_user_day เป็น periodic snapshot ระดับผู้ใช้ × วัน รวมวันที่ไม่มี activity เป็น 0</a:t>
            </a:r>
          </a:p>
        </p:txBody>
      </p:sp>
    </p:spTree>
    <p:extLst>
      <p:ext uri="{BB962C8B-B14F-4D97-AF65-F5344CB8AC3E}">
        <p14:creationId xmlns:p14="http://schemas.microsoft.com/office/powerpoint/2010/main" val="974992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us Matrix">
            <a:extLst xmlns:a="http://schemas.openxmlformats.org/drawingml/2006/main">
              <a:ext uri="{FF2B5EF4-FFF2-40B4-BE49-F238E27FC236}">
                <a16:creationId xmlns:a16="http://schemas.microsoft.com/office/drawing/2014/main" id="{956D7224-BFFD-4C6E-9C9F-8BDB3D12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Bus Matrix</a:t>
            </a:r>
          </a:p>
        </p:txBody>
      </p:sp>
      <p:sp>
        <p:nvSpPr>
          <p:cNvPr id="2" name="ใช้ conformed dimensions เชื่อมคำถา">
            <a:extLst xmlns:a="http://schemas.openxmlformats.org/drawingml/2006/main">
              <a:ext uri="{FF2B5EF4-FFF2-40B4-BE49-F238E27FC236}">
                <a16:creationId xmlns:a16="http://schemas.microsoft.com/office/drawing/2014/main" id="{B4C5FB8D-A406-468D-BD86-A6CF76B8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ใช้ conformed dimensions เชื่อมคำถามธุรกิจกับโครงสร้างคลังข้อมูล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F520A435-8736-4656-A479-2FC4AEA4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A9969-8BCE-40EE-9A51-C6AC7523A27A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000125"/>
                <a:gridCol w="1000125"/>
                <a:gridCol w="1428750"/>
                <a:gridCol w="1685925"/>
                <a:gridCol w="1333500"/>
                <a:gridCol w="1428750"/>
              </a:tblGrid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Business Process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Time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Content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Device /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Level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Event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Activity tracking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บาง event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Music streaming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NextSong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Content popularity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NextSong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Membership tracking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Engagement user-day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วัน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aggregate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aggregate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aggregate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aggregate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hurn cancellation และ Ad impressio">
            <a:extLst xmlns:a="http://schemas.openxmlformats.org/drawingml/2006/main">
              <a:ext uri="{FF2B5EF4-FFF2-40B4-BE49-F238E27FC236}">
                <a16:creationId xmlns:a16="http://schemas.microsoft.com/office/drawing/2014/main" id="{437708D6-0562-4522-823D-B8EB3058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defPPr>
            <a:lvl1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1pPr>
            <a:lvl2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2pPr>
            <a:lvl3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3pPr>
            <a:lvl4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4pPr>
            <a:lvl5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5pPr>
            <a:lvl6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6pPr>
            <a:lvl7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7pPr>
            <a:lvl8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8pPr>
            <a:lvl9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C55D40"/>
                </a:solidFill>
                <a:latin typeface="Tahoma"/>
                <a:ea typeface="Tahoma"/>
                <a:cs typeface="Tahoma"/>
              </a:rPr>
              <a:t>Churn cancellation และ Ad impressions เป็น future scope เพราะไม่มี events รองรับใน sample</a:t>
            </a:r>
          </a:p>
        </p:txBody>
      </p:sp>
    </p:spTree>
    <p:extLst>
      <p:ext uri="{BB962C8B-B14F-4D97-AF65-F5344CB8AC3E}">
        <p14:creationId xmlns:p14="http://schemas.microsoft.com/office/powerpoint/2010/main" val="2084447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a Dictionary สำหรับคีย์และ Measu">
            <a:extLst xmlns:a="http://schemas.openxmlformats.org/drawingml/2006/main">
              <a:ext uri="{FF2B5EF4-FFF2-40B4-BE49-F238E27FC236}">
                <a16:creationId xmlns:a16="http://schemas.microsoft.com/office/drawing/2014/main" id="{C57997D9-C978-4C13-8C36-7A07AADF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Data Dictionary สำหรับคีย์และ Measures</a:t>
            </a:r>
          </a:p>
        </p:txBody>
      </p:sp>
      <p:sp>
        <p:nvSpPr>
          <p:cNvPr id="2" name="พจนานุกรมฉบับเต็มใน GitHub ครอบคลุม">
            <a:extLst xmlns:a="http://schemas.openxmlformats.org/drawingml/2006/main">
              <a:ext uri="{FF2B5EF4-FFF2-40B4-BE49-F238E27FC236}">
                <a16:creationId xmlns:a16="http://schemas.microsoft.com/office/drawing/2014/main" id="{C89BF574-B221-4D3D-A7BC-7C3B251C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พจนานุกรมฉบับเต็มใน GitHub ครอบคลุมทุกคอลัมน์ของ models ที่ build จริง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47DB3643-F249-45C7-A815-CA2CA639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1F1B0-6D52-4B66-A39E-0693034BA432}"/>
              </a:ext>
            </a:extLst>
          </p:cNvPr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1905000"/>
                <a:gridCol w="4781550"/>
              </a:tblGrid>
              <a:tr h="537482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Field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SQL Type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ความหมาย / ข้อควรตีความ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T w="9525">
                      <a:solidFill>
                        <a:srgbClr val="D9D2C6"/>
                      </a:solidFill>
                      <a:prstDash val="solid"/>
                    </a:lnT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285F5D"/>
                    </a:solidFill>
                  </a:tcPr>
                </a:tc>
              </a:tr>
              <a:tr h="537482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event_id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VARCHAR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SHA-256 ของ canonical JSON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event_ts / time_key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TIMESTAMP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เวลาเกิดเหตุการณ์ UTC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</a:tr>
              <a:tr h="537482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subscription_key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VARCHAR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Free/Paid ณ event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is_songplay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INTEGER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1 เมื่อ page = NextSong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</a:tr>
              <a:tr h="537482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played_track_duration_seconds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DOUBLE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ความยาวเพลงเฉพาะ NextSong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valid_from / valid_to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6"/>
                      </a:solidFill>
                      <a:prstDash val="solid"/>
                    </a:lnL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TIMESTAMP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2A29"/>
                          </a:solidFill>
                          <a:latin typeface="Tahoma"/>
                          <a:ea typeface="Tahoma"/>
                          <a:cs typeface="Tahoma"/>
                        </a:rPr>
                        <a:t>ช่วงประวัติสมาชิก รวมต้น ไม่รวมปลาย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2C6"/>
                      </a:solidFill>
                      <a:prstDash val="solid"/>
                    </a:lnR>
                    <a:lnB w="9525">
                      <a:solidFill>
                        <a:srgbClr val="D9D2C6"/>
                      </a:solidFill>
                      <a:prstDash val="solid"/>
                    </a:lnB>
                    <a:solidFill>
                      <a:srgbClr val="F7F3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04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CA0DD-BABC-4BEE-9A50-E10FF59C6DD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62850" y="30861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29523-BBA3-4D8A-93A8-F73A9379141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62350" y="30861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F5D"/>
            </a:solidFill>
            <a:tailEnd type="arrow" w="med" len="med"/>
          </a:ln>
        </p:spPr>
      </p:cxnSp>
      <p:sp>
        <p:nvSpPr>
          <p:cNvPr id="12" name="ประวัติสมาชิกและข้อมูลที่มาทีหลัง">
            <a:extLst xmlns:a="http://schemas.openxmlformats.org/drawingml/2006/main">
              <a:ext uri="{FF2B5EF4-FFF2-40B4-BE49-F238E27FC236}">
                <a16:creationId xmlns:a16="http://schemas.microsoft.com/office/drawing/2014/main" id="{879B6C1E-1083-4EF4-AFB7-D38513D8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ประวัติสมาชิกและข้อมูลที่มาทีหลัง</a:t>
            </a:r>
          </a:p>
        </p:txBody>
      </p:sp>
      <p:sp>
        <p:nvSpPr>
          <p:cNvPr id="2" name="SCD Type 2 จากเวลาเกิด event ช่วยรั">
            <a:extLst xmlns:a="http://schemas.openxmlformats.org/drawingml/2006/main">
              <a:ext uri="{FF2B5EF4-FFF2-40B4-BE49-F238E27FC236}">
                <a16:creationId xmlns:a16="http://schemas.microsoft.com/office/drawing/2014/main" id="{E6BBC569-BE18-478F-A8D5-A0476DF2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SCD Type 2 จากเวลาเกิด event ช่วยรักษาสถานะ Free/Paid ของอดีต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87D735C5-6DA6-4AE6-AC0F-35C77459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5E03C-F346-4AFC-BBB5-B0E1AF48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Free</a:t>
            </a:r>
          </a:p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ช่วงที่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5A400-FB69-406C-AD24-CD384BBE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7650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Paid</a:t>
            </a:r>
          </a:p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ช่วงที่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C3DB7-1327-4ABC-A032-08FD380A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7650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F5D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Free</a:t>
            </a:r>
          </a:p>
          <a:p xmlns:a="http://schemas.openxmlformats.org/drawingml/2006/main">
            <a:pPr algn="ctr">
              <a:defRPr sz="1875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ช่วงที่ 3</a:t>
            </a:r>
          </a:p>
        </p:txBody>
      </p:sp>
      <p:sp>
        <p:nvSpPr>
          <p:cNvPr id="9" name="ตัวอย่างลำดับสถานะ">
            <a:extLst xmlns:a="http://schemas.openxmlformats.org/drawingml/2006/main">
              <a:ext uri="{FF2B5EF4-FFF2-40B4-BE49-F238E27FC236}">
                <a16:creationId xmlns:a16="http://schemas.microsoft.com/office/drawing/2014/main" id="{9613B6C1-89D9-4A68-B232-DA428952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8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8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8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8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8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8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8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8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8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ตัวอย่างลำดับสถานะ</a:t>
            </a:r>
          </a:p>
        </p:txBody>
      </p:sp>
      <p:sp>
        <p:nvSpPr>
          <p:cNvPr id="10" name="valid_from ≤ event_ts &lt; valid_to">
            <a:extLst xmlns:a="http://schemas.openxmlformats.org/drawingml/2006/main">
              <a:ext uri="{FF2B5EF4-FFF2-40B4-BE49-F238E27FC236}">
                <a16:creationId xmlns:a16="http://schemas.microsoft.com/office/drawing/2014/main" id="{502AE206-12C9-4A0D-83ED-A92B5611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defPPr>
            <a:lvl1pPr>
              <a:defRPr sz="27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1pPr>
            <a:lvl2pPr>
              <a:defRPr sz="27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2pPr>
            <a:lvl3pPr>
              <a:defRPr sz="27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3pPr>
            <a:lvl4pPr>
              <a:defRPr sz="27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4pPr>
            <a:lvl5pPr>
              <a:defRPr sz="27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5pPr>
            <a:lvl6pPr>
              <a:defRPr sz="27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6pPr>
            <a:lvl7pPr>
              <a:defRPr sz="27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7pPr>
            <a:lvl8pPr>
              <a:defRPr sz="27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8pPr>
            <a:lvl9pPr>
              <a:defRPr sz="27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85F5D"/>
                </a:solidFill>
                <a:latin typeface="Tahoma"/>
                <a:ea typeface="Tahoma"/>
                <a:cs typeface="Tahoma"/>
              </a:rPr>
              <a:t>valid_from ≤ event_ts &lt; valid_to</a:t>
            </a:r>
          </a:p>
        </p:txBody>
      </p:sp>
      <p:sp>
        <p:nvSpPr>
          <p:cNvPr id="11" name="เมื่อ event เก่ามาทีหลัง ระบบสร้างช">
            <a:extLst xmlns:a="http://schemas.openxmlformats.org/drawingml/2006/main">
              <a:ext uri="{FF2B5EF4-FFF2-40B4-BE49-F238E27FC236}">
                <a16:creationId xmlns:a16="http://schemas.microsoft.com/office/drawing/2014/main" id="{2514E397-B6CA-4A0F-9B7E-ECEB150E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เมื่อ event เก่ามาทีหลัง ระบบสร้างช่วงสมาชิกใหม่</a:t>
            </a:r>
          </a:p>
          <a:p xmlns:a="http://schemas.openxmlformats.org/drawingml/2006/main">
            <a: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และผูก Fact เดิมกับช่วงเวลาที่ถูกต้องอีกครั้ง</a:t>
            </a:r>
          </a:p>
        </p:txBody>
      </p:sp>
    </p:spTree>
    <p:extLst>
      <p:ext uri="{BB962C8B-B14F-4D97-AF65-F5344CB8AC3E}">
        <p14:creationId xmlns:p14="http://schemas.microsoft.com/office/powerpoint/2010/main" val="1985947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ภาพรวมการฟังในเดือนพฤศจิกายน 2018">
            <a:extLst xmlns:a="http://schemas.openxmlformats.org/drawingml/2006/main">
              <a:ext uri="{FF2B5EF4-FFF2-40B4-BE49-F238E27FC236}">
                <a16:creationId xmlns:a16="http://schemas.microsoft.com/office/drawing/2014/main" id="{BD78D373-BEF5-447B-8A0E-AF0FDF4E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ภาพรวมการฟังในเดือนพฤศจิกายน 2018</a:t>
            </a:r>
          </a:p>
        </p:txBody>
      </p:sp>
      <p:sp>
        <p:nvSpPr>
          <p:cNvPr id="2" name="6,820 songplay events จากผู้ฟังที่ม">
            <a:extLst xmlns:a="http://schemas.openxmlformats.org/drawingml/2006/main">
              <a:ext uri="{FF2B5EF4-FFF2-40B4-BE49-F238E27FC236}">
                <a16:creationId xmlns:a16="http://schemas.microsoft.com/office/drawing/2014/main" id="{4835729C-7BE7-478A-B98D-0319C850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6,820 songplay events จากผู้ฟังที่มี NextSong 96 accounts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8E45BA87-486E-4613-BC59-40332BB4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4" name="467.99">
            <a:extLst xmlns:a="http://schemas.openxmlformats.org/drawingml/2006/main">
              <a:ext uri="{FF2B5EF4-FFF2-40B4-BE49-F238E27FC236}">
                <a16:creationId xmlns:a16="http://schemas.microsoft.com/office/drawing/2014/main" id="{D347EC80-B2FD-4729-9466-17E6BE25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63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defPPr>
            <a:lvl1pPr>
              <a:defRPr sz="63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1pPr>
            <a:lvl2pPr>
              <a:defRPr sz="63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2pPr>
            <a:lvl3pPr>
              <a:defRPr sz="63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3pPr>
            <a:lvl4pPr>
              <a:defRPr sz="63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4pPr>
            <a:lvl5pPr>
              <a:defRPr sz="63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5pPr>
            <a:lvl6pPr>
              <a:defRPr sz="63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6pPr>
            <a:lvl7pPr>
              <a:defRPr sz="63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7pPr>
            <a:lvl8pPr>
              <a:defRPr sz="63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8pPr>
            <a:lvl9pPr>
              <a:defRPr sz="63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6300" b="1">
                <a:solidFill>
                  <a:srgbClr val="285F5D"/>
                </a:solidFill>
                <a:latin typeface="Tahoma"/>
                <a:ea typeface="Tahoma"/>
                <a:cs typeface="Tahoma"/>
              </a:rPr>
              <a:t>467.99</a:t>
            </a:r>
          </a:p>
        </p:txBody>
      </p:sp>
      <p:sp>
        <p:nvSpPr>
          <p:cNvPr id="5" name="played track hours">
            <a:extLst xmlns:a="http://schemas.openxmlformats.org/drawingml/2006/main">
              <a:ext uri="{FF2B5EF4-FFF2-40B4-BE49-F238E27FC236}">
                <a16:creationId xmlns:a16="http://schemas.microsoft.com/office/drawing/2014/main" id="{1BB1913C-ADC6-4A90-954E-B76CB84D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played track hours</a:t>
            </a:r>
          </a:p>
        </p:txBody>
      </p:sp>
      <p:sp>
        <p:nvSpPr>
          <p:cNvPr id="6" name="Paid 382.18 ชั่วโมง&#10;Free 85.81 ชั่ว">
            <a:extLst xmlns:a="http://schemas.openxmlformats.org/drawingml/2006/main">
              <a:ext uri="{FF2B5EF4-FFF2-40B4-BE49-F238E27FC236}">
                <a16:creationId xmlns:a16="http://schemas.microsoft.com/office/drawing/2014/main" id="{C2B603F6-7F7A-455B-86F2-4576431B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57675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Paid 382.18 ชั่วโมง</a:t>
            </a:r>
          </a:p>
          <a:p xmlns:a="http://schemas.openxmlformats.org/drawingml/2006/main">
            <a:pPr>
              <a:defRPr sz="232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Free 85.81 ชั่วโมง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166800D-B3D4-4580-819B-7BA5D9BA3AB1}"/>
              </a:ext>
            </a:extLst>
          </p:cNvPr>
          <p:cNvGraphicFramePr/>
          <p:nvPr/>
        </p:nvGraphicFramePr>
        <p:xfrm>
          <a:off xmlns:a="http://schemas.openxmlformats.org/drawingml/2006/main" x="5810250" y="2076450"/>
          <a:ext xmlns:a="http://schemas.openxmlformats.org/drawingml/2006/main" cx="56578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1f04ff5c0a4d32"/>
          </a:graphicData>
        </a:graphic>
      </p:graphicFrame>
      <p:sp>
        <p:nvSpPr>
          <p:cNvPr id="8" name="ใช้ level ณ event และผลรวมความยาวเพ">
            <a:extLst xmlns:a="http://schemas.openxmlformats.org/drawingml/2006/main">
              <a:ext uri="{FF2B5EF4-FFF2-40B4-BE49-F238E27FC236}">
                <a16:creationId xmlns:a16="http://schemas.microsoft.com/office/drawing/2014/main" id="{D45BD264-7A00-4A83-BC75-45B7A29A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defPPr>
            <a:lvl1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1pPr>
            <a:lvl2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2pPr>
            <a:lvl3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3pPr>
            <a:lvl4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4pPr>
            <a:lvl5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5pPr>
            <a:lvl6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6pPr>
            <a:lvl7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7pPr>
            <a:lvl8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8pPr>
            <a:lvl9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C55D40"/>
                </a:solidFill>
                <a:latin typeface="Tahoma"/>
                <a:ea typeface="Tahoma"/>
                <a:cs typeface="Tahoma"/>
              </a:rPr>
              <a:t>ใช้ level ณ event และผลรวมความยาวเพลง</a:t>
            </a:r>
          </a:p>
          <a:p xmlns:a="http://schemas.openxmlformats.org/drawingml/2006/main">
            <a:pPr>
              <a:defRPr sz="1725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C55D40"/>
                </a:solidFill>
                <a:latin typeface="Tahoma"/>
                <a:ea typeface="Tahoma"/>
                <a:cs typeface="Tahoma"/>
              </a:rPr>
              <a:t>ไม่มีข้อมูลยืนยันว่าผู้ใช้ฟังครบทุกเพลง</a:t>
            </a:r>
          </a:p>
        </p:txBody>
      </p:sp>
    </p:spTree>
    <p:extLst>
      <p:ext uri="{BB962C8B-B14F-4D97-AF65-F5344CB8AC3E}">
        <p14:creationId xmlns:p14="http://schemas.microsoft.com/office/powerpoint/2010/main" val="3914197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ผู้ฟังที่ใช้งานจริงรายวัน">
            <a:extLst xmlns:a="http://schemas.openxmlformats.org/drawingml/2006/main">
              <a:ext uri="{FF2B5EF4-FFF2-40B4-BE49-F238E27FC236}">
                <a16:creationId xmlns:a16="http://schemas.microsoft.com/office/drawing/2014/main" id="{A5DD236F-86BE-4ECD-9567-3EF58580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ผู้ฟังที่ใช้งานจริงรายวัน</a:t>
            </a:r>
          </a:p>
        </p:txBody>
      </p:sp>
      <p:sp>
        <p:nvSpPr>
          <p:cNvPr id="2" name="DAU = distinct user IDs ที่มี NextS">
            <a:extLst xmlns:a="http://schemas.openxmlformats.org/drawingml/2006/main">
              <a:ext uri="{FF2B5EF4-FFF2-40B4-BE49-F238E27FC236}">
                <a16:creationId xmlns:a16="http://schemas.microsoft.com/office/drawing/2014/main" id="{4EE99941-1756-420D-82B3-6756189B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DAU = distinct user IDs ที่มี NextSong ในวัน UTC นั้น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1BF35E50-94FE-4BE0-B83B-81C05B48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2132F01-58F5-4A7C-BFC8-1EE5B07E2099}"/>
              </a:ext>
            </a:extLst>
          </p:cNvPr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e26d344d764771"/>
          </a:graphicData>
        </a:graphic>
      </p:graphicFrame>
      <p:sp>
        <p:nvSpPr>
          <p:cNvPr id="5" name="แกน X: วันที่ในเดือนพฤศจิกายน 2018 ">
            <a:extLst xmlns:a="http://schemas.openxmlformats.org/drawingml/2006/main">
              <a:ext uri="{FF2B5EF4-FFF2-40B4-BE49-F238E27FC236}">
                <a16:creationId xmlns:a16="http://schemas.microsoft.com/office/drawing/2014/main" id="{5D9A4690-CF51-414F-962E-58829FFB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แกน X: วันที่ในเดือนพฤศจิกายน 2018 (UTC)</a:t>
            </a:r>
          </a:p>
          <a:p xmlns:a="http://schemas.openxmlformats.org/drawingml/2006/main">
            <a: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วันแรกและวันสุดท้ายของ sample มีเวลาเก็บข้อมูลไม่ครบ 24 ชั่วโมง</a:t>
            </a:r>
          </a:p>
        </p:txBody>
      </p:sp>
    </p:spTree>
    <p:extLst>
      <p:ext uri="{BB962C8B-B14F-4D97-AF65-F5344CB8AC3E}">
        <p14:creationId xmlns:p14="http://schemas.microsoft.com/office/powerpoint/2010/main" val="14747132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ช่วงบ่าย UTC มี Songplays สูงสุดใน ">
            <a:extLst xmlns:a="http://schemas.openxmlformats.org/drawingml/2006/main">
              <a:ext uri="{FF2B5EF4-FFF2-40B4-BE49-F238E27FC236}">
                <a16:creationId xmlns:a16="http://schemas.microsoft.com/office/drawing/2014/main" id="{1437463B-954A-4D69-A7B2-2039A0D8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ช่วงบ่าย UTC มี Songplays สูงสุดใน sample</a:t>
            </a:r>
          </a:p>
        </p:txBody>
      </p:sp>
      <p:sp>
        <p:nvSpPr>
          <p:cNvPr id="2" name="แบ่งช่วงเวลาจาก ts โดยไม่อนุมานเขตเ">
            <a:extLst xmlns:a="http://schemas.openxmlformats.org/drawingml/2006/main">
              <a:ext uri="{FF2B5EF4-FFF2-40B4-BE49-F238E27FC236}">
                <a16:creationId xmlns:a16="http://schemas.microsoft.com/office/drawing/2014/main" id="{94986C8C-D0B2-4587-8252-635E9E86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แบ่งช่วงเวลาจาก ts โดยไม่อนุมานเขตเวลาของผู้ใช้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8DF66EBB-3168-4304-ADB1-434C9F1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3EF0842-2451-449F-8F98-744133F537D6}"/>
              </a:ext>
            </a:extLst>
          </p:cNvPr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2a3ae7859a472f"/>
          </a:graphicData>
        </a:graphic>
      </p:graphicFrame>
      <p:sp>
        <p:nvSpPr>
          <p:cNvPr id="5" name="Afternoon UTC: 2,577 ครั้ง (37.8%)&#10;">
            <a:extLst xmlns:a="http://schemas.openxmlformats.org/drawingml/2006/main">
              <a:ext uri="{FF2B5EF4-FFF2-40B4-BE49-F238E27FC236}">
                <a16:creationId xmlns:a16="http://schemas.microsoft.com/office/drawing/2014/main" id="{E1A26940-82F1-4792-B81E-55079323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defPPr>
            <a:lvl1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1pPr>
            <a:lvl2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2pPr>
            <a:lvl3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3pPr>
            <a:lvl4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4pPr>
            <a:lvl5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5pPr>
            <a:lvl6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6pPr>
            <a:lvl7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7pPr>
            <a:lvl8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8pPr>
            <a:lvl9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C55D40"/>
                </a:solidFill>
                <a:latin typeface="Tahoma"/>
                <a:ea typeface="Tahoma"/>
                <a:cs typeface="Tahoma"/>
              </a:rPr>
              <a:t>Afternoon UTC: 2,577 ครั้ง (37.8%)</a:t>
            </a:r>
          </a:p>
          <a:p xmlns:a="http://schemas.openxmlformats.org/drawingml/2006/main">
            <a: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C55D40"/>
                </a:solidFill>
                <a:latin typeface="Tahoma"/>
                <a:ea typeface="Tahoma"/>
                <a:cs typeface="Tahoma"/>
              </a:rPr>
              <a:t>ยังแปลเป็น “ช่วงบ่ายตามเวลาท้องถิ่น” หรือบริบทการเดินทางไม่ได้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17987994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ศิลปินที่มีจำนวน Songplays สูงสุด">
            <a:extLst xmlns:a="http://schemas.openxmlformats.org/drawingml/2006/main">
              <a:ext uri="{FF2B5EF4-FFF2-40B4-BE49-F238E27FC236}">
                <a16:creationId xmlns:a16="http://schemas.microsoft.com/office/drawing/2014/main" id="{C0378644-5AEB-4D28-8B49-4962FF63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ศิลปินที่มีจำนวน Songplays สูงสุด</a:t>
            </a:r>
          </a:p>
        </p:txBody>
      </p:sp>
      <p:sp>
        <p:nvSpPr>
          <p:cNvPr id="2" name="จัดอันดับจากชื่อศิลปินใน logs เพื่อ">
            <a:extLst xmlns:a="http://schemas.openxmlformats.org/drawingml/2006/main">
              <a:ext uri="{FF2B5EF4-FFF2-40B4-BE49-F238E27FC236}">
                <a16:creationId xmlns:a16="http://schemas.microsoft.com/office/drawing/2014/main" id="{CA464E1D-1CF1-40EB-9A8A-04DC8ED7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จัดอันดับจากชื่อศิลปินใน logs เพื่อเก็บการเล่นเพลงไว้ครบ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7DE182DB-19A4-4B9D-BA7D-1AD0EB39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1B3B42B-8037-4507-AE01-A189FC847F5E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5f338da3f3494a"/>
          </a:graphicData>
        </a:graphic>
      </p:graphicFrame>
      <p:sp>
        <p:nvSpPr>
          <p:cNvPr id="5" name="Coldplay 58 ครั้ง และ Kings Of Leon">
            <a:extLst xmlns:a="http://schemas.openxmlformats.org/drawingml/2006/main">
              <a:ext uri="{FF2B5EF4-FFF2-40B4-BE49-F238E27FC236}">
                <a16:creationId xmlns:a16="http://schemas.microsoft.com/office/drawing/2014/main" id="{AABAB403-1C94-4E67-AE66-347F82F8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Coldplay 58 ครั้ง และ Kings Of Leon 55 ครั้ง</a:t>
            </a:r>
          </a:p>
          <a:p xmlns:a="http://schemas.openxmlformats.org/drawingml/2006/main">
            <a:pPr>
              <a:defRPr sz="172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Catalog จับคู่แบบ exact unique ได้เพียง 333 จาก 6,820 plays (4.88%)</a:t>
            </a:r>
          </a:p>
        </p:txBody>
      </p:sp>
    </p:spTree>
    <p:extLst>
      <p:ext uri="{BB962C8B-B14F-4D97-AF65-F5344CB8AC3E}">
        <p14:creationId xmlns:p14="http://schemas.microsoft.com/office/powerpoint/2010/main" val="11664534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gagement Watchlist ณ 30 พฤศจิกายน">
            <a:extLst xmlns:a="http://schemas.openxmlformats.org/drawingml/2006/main">
              <a:ext uri="{FF2B5EF4-FFF2-40B4-BE49-F238E27FC236}">
                <a16:creationId xmlns:a16="http://schemas.microsoft.com/office/drawing/2014/main" id="{09486518-A72C-470E-9C58-7F135579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Engagement Watchlist ณ 30 พฤศจิกายน 2018</a:t>
            </a:r>
          </a:p>
        </p:txBody>
      </p:sp>
      <p:sp>
        <p:nvSpPr>
          <p:cNvPr id="2" name="คัดกรองผู้ใช้จากการใช้งานที่สังเกตไ">
            <a:extLst xmlns:a="http://schemas.openxmlformats.org/drawingml/2006/main">
              <a:ext uri="{FF2B5EF4-FFF2-40B4-BE49-F238E27FC236}">
                <a16:creationId xmlns:a16="http://schemas.microsoft.com/office/drawing/2014/main" id="{08E495F3-3018-4CD2-AD60-BFAA12C6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คัดกรองผู้ใช้จากการใช้งานที่สังเกตได้ ยังไม่มี Churn label สำหรับประเมิน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3E595FBA-2AA0-4E45-8D23-D42A7EB0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56BE993-9497-4238-8E2F-54A7A7C3941D}"/>
              </a:ext>
            </a:extLst>
          </p:cNvPr>
          <p:cNvGraphicFramePr/>
          <p:nvPr/>
        </p:nvGraphicFramePr>
        <p:xfrm>
          <a:off xmlns:a="http://schemas.openxmlformats.org/drawingml/2006/main" x="609600" y="2219325"/>
          <a:ext xmlns:a="http://schemas.openxmlformats.org/drawingml/2006/main" cx="66675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4e2c8cd6a44e70"/>
          </a:graphicData>
        </a:graphic>
      </p:graphicFrame>
      <p:sp>
        <p:nvSpPr>
          <p:cNvPr id="5" name="กฎคัดกรอง">
            <a:extLst xmlns:a="http://schemas.openxmlformats.org/drawingml/2006/main">
              <a:ext uri="{FF2B5EF4-FFF2-40B4-BE49-F238E27FC236}">
                <a16:creationId xmlns:a16="http://schemas.microsoft.com/office/drawing/2014/main" id="{730BDA39-2D88-4CC4-A01A-86795789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050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defPPr>
            <a:lvl1pPr>
              <a:defRPr sz="240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1pPr>
            <a:lvl2pPr>
              <a:defRPr sz="240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2pPr>
            <a:lvl3pPr>
              <a:defRPr sz="240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3pPr>
            <a:lvl4pPr>
              <a:defRPr sz="240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4pPr>
            <a:lvl5pPr>
              <a:defRPr sz="240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5pPr>
            <a:lvl6pPr>
              <a:defRPr sz="240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6pPr>
            <a:lvl7pPr>
              <a:defRPr sz="240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7pPr>
            <a:lvl8pPr>
              <a:defRPr sz="240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8pPr>
            <a:lvl9pPr>
              <a:defRPr sz="240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C55D40"/>
                </a:solidFill>
                <a:latin typeface="Tahoma"/>
                <a:ea typeface="Tahoma"/>
                <a:cs typeface="Tahoma"/>
              </a:rPr>
              <a:t>กฎคัดกรอง</a:t>
            </a:r>
          </a:p>
        </p:txBody>
      </p:sp>
      <p:sp>
        <p:nvSpPr>
          <p:cNvPr id="6" name="ประวัติ ≥ 14 วัน&#10;7 วันก่อนหน้า ≥ 5 ">
            <a:extLst xmlns:a="http://schemas.openxmlformats.org/drawingml/2006/main">
              <a:ext uri="{FF2B5EF4-FFF2-40B4-BE49-F238E27FC236}">
                <a16:creationId xmlns:a16="http://schemas.microsoft.com/office/drawing/2014/main" id="{8B3D8DF3-3B9C-47EF-9455-8CF6F0A9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24175"/>
            <a:ext cx="35433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ประวัติ ≥ 14 วัน</a:t>
            </a:r>
          </a:p>
          <a:p xmlns:a="http://schemas.openxmlformats.org/drawingml/2006/main">
            <a: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7 วันก่อนหน้า ≥ 5 เพลง</a:t>
            </a:r>
          </a:p>
          <a:p xmlns:a="http://schemas.openxmlformats.org/drawingml/2006/main">
            <a: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7 วันล่าสุดลดลง ≥ 50%</a:t>
            </a:r>
          </a:p>
          <a:p xmlns:a="http://schemas.openxmlformats.org/drawingml/2006/main">
            <a:pPr>
              <a:defRPr sz="195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หรือไม่ฟัง ≥ 7 วัน</a:t>
            </a:r>
          </a:p>
        </p:txBody>
      </p:sp>
      <p:sp>
        <p:nvSpPr>
          <p:cNvPr id="7" name="37 accounts เข้าเงื่อนไขให้ตรวจสอบเ">
            <a:extLst xmlns:a="http://schemas.openxmlformats.org/drawingml/2006/main">
              <a:ext uri="{FF2B5EF4-FFF2-40B4-BE49-F238E27FC236}">
                <a16:creationId xmlns:a16="http://schemas.microsoft.com/office/drawing/2014/main" id="{5B9AE37B-1636-4A90-8828-781B3D6E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defPPr>
            <a:lvl1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1pPr>
            <a:lvl2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2pPr>
            <a:lvl3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3pPr>
            <a:lvl4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4pPr>
            <a:lvl5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5pPr>
            <a:lvl6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6pPr>
            <a:lvl7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7pPr>
            <a:lvl8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8pPr>
            <a:lvl9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5D4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C55D40"/>
                </a:solidFill>
                <a:latin typeface="Tahoma"/>
                <a:ea typeface="Tahoma"/>
                <a:cs typeface="Tahoma"/>
              </a:rPr>
              <a:t>37 accounts เข้าเงื่อนไขให้ตรวจสอบเพิ่มเติม จำนวนนั้นยังไม่ใช่ผู้ยกเลิกสมาชิก</a:t>
            </a:r>
          </a:p>
        </p:txBody>
      </p:sp>
    </p:spTree>
    <p:extLst>
      <p:ext uri="{BB962C8B-B14F-4D97-AF65-F5344CB8AC3E}">
        <p14:creationId xmlns:p14="http://schemas.microsoft.com/office/powerpoint/2010/main" val="1124475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ผลลัพธ์การพัฒนาและขอบเขตการใช้งาน">
            <a:extLst xmlns:a="http://schemas.openxmlformats.org/drawingml/2006/main">
              <a:ext uri="{FF2B5EF4-FFF2-40B4-BE49-F238E27FC236}">
                <a16:creationId xmlns:a16="http://schemas.microsoft.com/office/drawing/2014/main" id="{698940C6-8427-4530-9419-2560438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ผลลัพธ์การพัฒนาและขอบเขตการใช้งาน</a:t>
            </a:r>
          </a:p>
        </p:txBody>
      </p:sp>
      <p:sp>
        <p:nvSpPr>
          <p:cNvPr id="2" name="Python + dbt + PostgreSQL / DuckDB ">
            <a:extLst xmlns:a="http://schemas.openxmlformats.org/drawingml/2006/main">
              <a:ext uri="{FF2B5EF4-FFF2-40B4-BE49-F238E27FC236}">
                <a16:creationId xmlns:a16="http://schemas.microsoft.com/office/drawing/2014/main" id="{8DAB2FB1-E194-444C-B011-1D6D71BC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Python + dbt + PostgreSQL / DuckDB พร้อม SQL สำหรับ BI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38B1FF98-01D6-4409-9295-9BEA7E6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4" name="21 models">
            <a:extLst xmlns:a="http://schemas.openxmlformats.org/drawingml/2006/main">
              <a:ext uri="{FF2B5EF4-FFF2-40B4-BE49-F238E27FC236}">
                <a16:creationId xmlns:a16="http://schemas.microsoft.com/office/drawing/2014/main" id="{8EA45616-7123-4EDE-83E0-2404E3BD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62175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43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defPPr>
            <a:lvl1pPr>
              <a:defRPr sz="43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1pPr>
            <a:lvl2pPr>
              <a:defRPr sz="43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2pPr>
            <a:lvl3pPr>
              <a:defRPr sz="43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3pPr>
            <a:lvl4pPr>
              <a:defRPr sz="43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4pPr>
            <a:lvl5pPr>
              <a:defRPr sz="43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5pPr>
            <a:lvl6pPr>
              <a:defRPr sz="43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6pPr>
            <a:lvl7pPr>
              <a:defRPr sz="43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7pPr>
            <a:lvl8pPr>
              <a:defRPr sz="43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8pPr>
            <a:lvl9pPr>
              <a:defRPr sz="43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285F5D"/>
                </a:solidFill>
                <a:latin typeface="Tahoma"/>
                <a:ea typeface="Tahoma"/>
                <a:cs typeface="Tahoma"/>
              </a:rPr>
              <a:t>21 models</a:t>
            </a:r>
          </a:p>
        </p:txBody>
      </p:sp>
      <p:sp>
        <p:nvSpPr>
          <p:cNvPr id="5" name="47 data tests ผ่าน">
            <a:extLst xmlns:a="http://schemas.openxmlformats.org/drawingml/2006/main">
              <a:ext uri="{FF2B5EF4-FFF2-40B4-BE49-F238E27FC236}">
                <a16:creationId xmlns:a16="http://schemas.microsoft.com/office/drawing/2014/main" id="{343454DB-C8E4-4CED-818F-0F2948BA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9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defPPr>
            <a:lvl1pPr>
              <a:defRPr sz="29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1pPr>
            <a:lvl2pPr>
              <a:defRPr sz="29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2pPr>
            <a:lvl3pPr>
              <a:defRPr sz="29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3pPr>
            <a:lvl4pPr>
              <a:defRPr sz="29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4pPr>
            <a:lvl5pPr>
              <a:defRPr sz="29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5pPr>
            <a:lvl6pPr>
              <a:defRPr sz="29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6pPr>
            <a:lvl7pPr>
              <a:defRPr sz="29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7pPr>
            <a:lvl8pPr>
              <a:defRPr sz="29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8pPr>
            <a:lvl9pPr>
              <a:defRPr sz="29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285F5D"/>
                </a:solidFill>
                <a:latin typeface="Tahoma"/>
                <a:ea typeface="Tahoma"/>
                <a:cs typeface="Tahoma"/>
              </a:rPr>
              <a:t>47 data tests ผ่าน</a:t>
            </a:r>
          </a:p>
        </p:txBody>
      </p:sp>
      <p:sp>
        <p:nvSpPr>
          <p:cNvPr id="6" name="Duplicate replay&#10;Late arrival และ S">
            <a:extLst xmlns:a="http://schemas.openxmlformats.org/drawingml/2006/main">
              <a:ext uri="{FF2B5EF4-FFF2-40B4-BE49-F238E27FC236}">
                <a16:creationId xmlns:a16="http://schemas.microsoft.com/office/drawing/2014/main" id="{5317FC8F-710C-416B-BA42-B8518B96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Duplicate replay</a:t>
            </a:r>
          </a:p>
          <a:p xmlns:a="http://schemas.openxmlformats.org/drawingml/2006/main">
            <a: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Late arrival และ SCD intervals</a:t>
            </a:r>
          </a:p>
          <a:p xmlns:a="http://schemas.openxmlformats.org/drawingml/2006/main">
            <a:pPr>
              <a:defRPr sz="2100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Fact / KPI reconciliation</a:t>
            </a:r>
          </a:p>
        </p:txBody>
      </p:sp>
      <p:sp>
        <p:nvSpPr>
          <p:cNvPr id="7" name="สิ่งที่ต้องเพิ่มเพื่อศึกษา Churn">
            <a:extLst xmlns:a="http://schemas.openxmlformats.org/drawingml/2006/main">
              <a:ext uri="{FF2B5EF4-FFF2-40B4-BE49-F238E27FC236}">
                <a16:creationId xmlns:a16="http://schemas.microsoft.com/office/drawing/2014/main" id="{D5373605-A451-4565-9EE4-8CCDC4BA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0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defPPr>
            <a:lvl1pPr>
              <a:defRPr sz="2325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1pPr>
            <a:lvl2pPr>
              <a:defRPr sz="2325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2pPr>
            <a:lvl3pPr>
              <a:defRPr sz="2325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3pPr>
            <a:lvl4pPr>
              <a:defRPr sz="2325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4pPr>
            <a:lvl5pPr>
              <a:defRPr sz="2325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5pPr>
            <a:lvl6pPr>
              <a:defRPr sz="2325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6pPr>
            <a:lvl7pPr>
              <a:defRPr sz="2325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7pPr>
            <a:lvl8pPr>
              <a:defRPr sz="2325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8pPr>
            <a:lvl9pPr>
              <a:defRPr sz="2325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C55D40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C55D40"/>
                </a:solidFill>
                <a:latin typeface="Tahoma"/>
                <a:ea typeface="Tahoma"/>
                <a:cs typeface="Tahoma"/>
              </a:rPr>
              <a:t>สิ่งที่ต้องเพิ่มเพื่อศึกษา Churn</a:t>
            </a:r>
          </a:p>
        </p:txBody>
      </p:sp>
      <p:sp>
        <p:nvSpPr>
          <p:cNvPr id="8" name="Cancellation outcome ที่ยืนยันได้&#10;ช">
            <a:extLst xmlns:a="http://schemas.openxmlformats.org/drawingml/2006/main">
              <a:ext uri="{FF2B5EF4-FFF2-40B4-BE49-F238E27FC236}">
                <a16:creationId xmlns:a16="http://schemas.microsoft.com/office/drawing/2014/main" id="{B6B22D36-59EF-4A68-9334-F2C83038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5000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Cancellation outcome ที่ยืนยันได้</a:t>
            </a:r>
          </a:p>
          <a:p xmlns:a="http://schemas.openxmlformats.org/drawingml/2006/main">
            <a: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ช่วงสังเกตและ prediction horizon</a:t>
            </a:r>
          </a:p>
          <a:p xmlns:a="http://schemas.openxmlformats.org/drawingml/2006/main">
            <a:pPr>
              <a:defRPr sz="2175" b="0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02A29"/>
                </a:solidFill>
                <a:latin typeface="Tahoma"/>
                <a:ea typeface="Tahoma"/>
                <a:cs typeface="Tahoma"/>
              </a:rPr>
              <a:t>การประเมินโมเดลตามลำดับเวลา</a:t>
            </a:r>
          </a:p>
        </p:txBody>
      </p:sp>
      <p:sp>
        <p:nvSpPr>
          <p:cNvPr id="9" name="ไม่มี Genre, Skip, Dislike หรือรายไ">
            <a:extLst xmlns:a="http://schemas.openxmlformats.org/drawingml/2006/main">
              <a:ext uri="{FF2B5EF4-FFF2-40B4-BE49-F238E27FC236}">
                <a16:creationId xmlns:a16="http://schemas.microsoft.com/office/drawing/2014/main" id="{9387F9E2-0116-4CCA-9356-B5BAB0FA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29225"/>
            <a:ext cx="5000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ไม่มี Genre, Skip, Dislike หรือรายได้</a:t>
            </a:r>
          </a:p>
          <a:p xmlns:a="http://schemas.openxmlformats.org/drawingml/2006/main">
            <a: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จึงยังตอบคำถามเหล่านี้จาก sample 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2875557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mo และการนำข้อมูลไปใช้">
            <a:extLst xmlns:a="http://schemas.openxmlformats.org/drawingml/2006/main">
              <a:ext uri="{FF2B5EF4-FFF2-40B4-BE49-F238E27FC236}">
                <a16:creationId xmlns:a16="http://schemas.microsoft.com/office/drawing/2014/main" id="{930331B2-99AC-4913-B6EC-9E47DCBB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defPPr>
            <a:lvl1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1pPr>
            <a:lvl2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2pPr>
            <a:lvl3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3pPr>
            <a:lvl4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4pPr>
            <a:lvl5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5pPr>
            <a:lvl6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6pPr>
            <a:lvl7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7pPr>
            <a:lvl8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8pPr>
            <a:lvl9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A2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202A29"/>
                </a:solidFill>
                <a:latin typeface="Tahoma"/>
                <a:ea typeface="Tahoma"/>
                <a:cs typeface="Tahoma"/>
              </a:rPr>
              <a:t>Demo และการนำข้อมูลไปใช้</a:t>
            </a:r>
          </a:p>
        </p:txBody>
      </p:sp>
      <p:sp>
        <p:nvSpPr>
          <p:cNvPr id="2" name="เปิดดู KPI และย้อนตรวจนิยามจากคลังข">
            <a:extLst xmlns:a="http://schemas.openxmlformats.org/drawingml/2006/main">
              <a:ext uri="{FF2B5EF4-FFF2-40B4-BE49-F238E27FC236}">
                <a16:creationId xmlns:a16="http://schemas.microsoft.com/office/drawing/2014/main" id="{034F3A77-A009-4B88-A2C3-09E561E1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เปิดดู KPI และย้อนตรวจนิยามจากคลังข้อมูลชุดเดียวกัน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F2DEEB50-7C4A-41C3-9356-38D74144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72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4" name="01  รัน ETL และ dbt build">
            <a:extLst xmlns:a="http://schemas.openxmlformats.org/drawingml/2006/main">
              <a:ext uri="{FF2B5EF4-FFF2-40B4-BE49-F238E27FC236}">
                <a16:creationId xmlns:a16="http://schemas.microsoft.com/office/drawing/2014/main" id="{63AE4C1B-756D-412E-97A6-73F0B98A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defPPr>
            <a:lvl1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1pPr>
            <a:lvl2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2pPr>
            <a:lvl3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3pPr>
            <a:lvl4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4pPr>
            <a:lvl5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5pPr>
            <a:lvl6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6pPr>
            <a:lvl7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7pPr>
            <a:lvl8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8pPr>
            <a:lvl9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285F5D"/>
                </a:solidFill>
                <a:latin typeface="Tahoma"/>
                <a:ea typeface="Tahoma"/>
                <a:cs typeface="Tahoma"/>
              </a:rPr>
              <a:t>01  รัน ETL และ dbt build</a:t>
            </a:r>
          </a:p>
        </p:txBody>
      </p:sp>
      <p:sp>
        <p:nvSpPr>
          <p:cNvPr id="5" name="02  ตรวจยอด Songplays / Track hours">
            <a:extLst xmlns:a="http://schemas.openxmlformats.org/drawingml/2006/main">
              <a:ext uri="{FF2B5EF4-FFF2-40B4-BE49-F238E27FC236}">
                <a16:creationId xmlns:a16="http://schemas.microsoft.com/office/drawing/2014/main" id="{CC80D1EB-31DA-447C-83FD-C8F2C23E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defPPr>
            <a:lvl1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1pPr>
            <a:lvl2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2pPr>
            <a:lvl3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3pPr>
            <a:lvl4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4pPr>
            <a:lvl5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5pPr>
            <a:lvl6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6pPr>
            <a:lvl7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7pPr>
            <a:lvl8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8pPr>
            <a:lvl9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285F5D"/>
                </a:solidFill>
                <a:latin typeface="Tahoma"/>
                <a:ea typeface="Tahoma"/>
                <a:cs typeface="Tahoma"/>
              </a:rPr>
              <a:t>02  ตรวจยอด Songplays / Track hours ใน PostgreSQL</a:t>
            </a:r>
          </a:p>
        </p:txBody>
      </p:sp>
      <p:sp>
        <p:nvSpPr>
          <p:cNvPr id="6" name="03  เปิด Metabase Dashboard และดู e">
            <a:extLst xmlns:a="http://schemas.openxmlformats.org/drawingml/2006/main">
              <a:ext uri="{FF2B5EF4-FFF2-40B4-BE49-F238E27FC236}">
                <a16:creationId xmlns:a16="http://schemas.microsoft.com/office/drawing/2014/main" id="{31625A40-352D-4BB1-B61D-9B79D731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defPPr>
            <a:lvl1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1pPr>
            <a:lvl2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2pPr>
            <a:lvl3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3pPr>
            <a:lvl4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4pPr>
            <a:lvl5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5pPr>
            <a:lvl6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6pPr>
            <a:lvl7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7pPr>
            <a:lvl8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8pPr>
            <a:lvl9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85F5D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285F5D"/>
                </a:solidFill>
                <a:latin typeface="Tahoma"/>
                <a:ea typeface="Tahoma"/>
                <a:cs typeface="Tahoma"/>
              </a:rPr>
              <a:t>03  เปิด Metabase Dashboard และดู engagement screening</a:t>
            </a:r>
          </a:p>
        </p:txBody>
      </p:sp>
      <p:sp>
        <p:nvSpPr>
          <p:cNvPr id="7" name="GitHub: thanapat6954/sparkify-music">
            <a:extLst xmlns:a="http://schemas.openxmlformats.org/drawingml/2006/main">
              <a:ext uri="{FF2B5EF4-FFF2-40B4-BE49-F238E27FC236}">
                <a16:creationId xmlns:a16="http://schemas.microsoft.com/office/drawing/2014/main" id="{F1ED5C6B-93FF-49BC-B74F-A2A32871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defPPr>
            <a:lvl1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1pPr>
            <a:lvl2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2pPr>
            <a:lvl3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3pPr>
            <a:lvl4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4pPr>
            <a:lvl5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5pPr>
            <a:lvl6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6pPr>
            <a:lvl7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7pPr>
            <a:lvl8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8pPr>
            <a:lvl9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GitHub: thanapat6954/sparkify-music-data-warehouse</a:t>
            </a:r>
          </a:p>
          <a:p xmlns:a="http://schemas.openxmlformats.org/drawingml/2006/main">
            <a:pPr>
              <a:defRPr sz="1875" b="0">
                <a:solidFill>
                  <a:srgbClr val="59666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96663"/>
                </a:solidFill>
                <a:latin typeface="Tahoma"/>
                <a:ea typeface="Tahoma"/>
                <a:cs typeface="Tahoma"/>
              </a:rPr>
              <a:t>Local BI: http://localhost:23000</a:t>
            </a:r>
          </a:p>
        </p:txBody>
      </p:sp>
    </p:spTree>
    <p:extLst>
      <p:ext uri="{BB962C8B-B14F-4D97-AF65-F5344CB8AC3E}">
        <p14:creationId xmlns:p14="http://schemas.microsoft.com/office/powerpoint/2010/main" val="481884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2026-10-24T23:22:30.5330000Z</dcterms:created>
  <dcterms:modified xsi:type="dcterms:W3CDTF">2026-10-24T23:22:30.5330000Z</dcterms:modified>
</coreProperties>
</file>